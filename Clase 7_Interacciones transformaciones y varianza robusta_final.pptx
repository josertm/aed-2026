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841d5c95614ba5" /><Relationship Type="http://schemas.openxmlformats.org/officeDocument/2006/relationships/extended-properties" Target="/docProps/app.xml" Id="R91f08f8aea334a26" /><Relationship Type="http://schemas.openxmlformats.org/officeDocument/2006/relationships/officeDocument" Target="/ppt/presentation.xml" Id="R6018feab347e4c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58097023eb4361"/>
  </p:sldMasterIdLst>
  <p:notesMasterIdLst>
    <p:notesMasterId xmlns:r="http://schemas.openxmlformats.org/officeDocument/2006/relationships" r:id="Rf619b681b00a40db"/>
  </p:notesMasterIdLst>
  <p:sldIdLst>
    <p:sldId xmlns:r="http://schemas.openxmlformats.org/officeDocument/2006/relationships" id="256" r:id="Rd0930a91ce514ee0"/>
    <p:sldId xmlns:r="http://schemas.openxmlformats.org/officeDocument/2006/relationships" id="257" r:id="R5a98d690d5264ab9"/>
    <p:sldId xmlns:r="http://schemas.openxmlformats.org/officeDocument/2006/relationships" id="258" r:id="R988a18bdf7f14610"/>
    <p:sldId xmlns:r="http://schemas.openxmlformats.org/officeDocument/2006/relationships" id="259" r:id="Rbde58adcd9c54f38"/>
    <p:sldId xmlns:r="http://schemas.openxmlformats.org/officeDocument/2006/relationships" id="260" r:id="Rb3c47716da30413b"/>
    <p:sldId xmlns:r="http://schemas.openxmlformats.org/officeDocument/2006/relationships" id="261" r:id="R339992caf0ad4857"/>
    <p:sldId xmlns:r="http://schemas.openxmlformats.org/officeDocument/2006/relationships" id="262" r:id="R0af178123f5548a5"/>
    <p:sldId xmlns:r="http://schemas.openxmlformats.org/officeDocument/2006/relationships" id="263" r:id="Rf8e58d1244da49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64776c770d4eef" /><Relationship Type="http://schemas.openxmlformats.org/officeDocument/2006/relationships/slideMaster" Target="/ppt/slideMasters/slideMaster1.xml" Id="R4c58097023eb4361" /><Relationship Type="http://schemas.openxmlformats.org/officeDocument/2006/relationships/notesMaster" Target="/ppt/notesMasters/notesMaster1.xml" Id="Rf619b681b00a40db" /><Relationship Type="http://schemas.openxmlformats.org/officeDocument/2006/relationships/presProps" Target="/ppt/presProps.xml" Id="R0cb2caed218a410c" /><Relationship Type="http://schemas.openxmlformats.org/officeDocument/2006/relationships/tableStyles" Target="/ppt/tableStyles.xml" Id="Rc761e77e46a94a50" /><Relationship Type="http://schemas.openxmlformats.org/officeDocument/2006/relationships/slide" Target="/ppt/slides/slide1.xml" Id="Rd0930a91ce514ee0" /><Relationship Type="http://schemas.openxmlformats.org/officeDocument/2006/relationships/slide" Target="/ppt/slides/slide2.xml" Id="R5a98d690d5264ab9" /><Relationship Type="http://schemas.openxmlformats.org/officeDocument/2006/relationships/slide" Target="/ppt/slides/slide3.xml" Id="R988a18bdf7f14610" /><Relationship Type="http://schemas.openxmlformats.org/officeDocument/2006/relationships/slide" Target="/ppt/slides/slide4.xml" Id="Rbde58adcd9c54f38" /><Relationship Type="http://schemas.openxmlformats.org/officeDocument/2006/relationships/slide" Target="/ppt/slides/slide5.xml" Id="Rb3c47716da30413b" /><Relationship Type="http://schemas.openxmlformats.org/officeDocument/2006/relationships/slide" Target="/ppt/slides/slide6.xml" Id="R339992caf0ad4857" /><Relationship Type="http://schemas.openxmlformats.org/officeDocument/2006/relationships/slide" Target="/ppt/slides/slide7.xml" Id="R0af178123f5548a5" /><Relationship Type="http://schemas.openxmlformats.org/officeDocument/2006/relationships/slide" Target="/ppt/slides/slide8.xml" Id="Rf8e58d1244da49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6ed2c2c07444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49f851548e43c5" /><Relationship Type="http://schemas.openxmlformats.org/officeDocument/2006/relationships/notesMaster" Target="/ppt/notesMasters/notesMaster1.xml" Id="R0330305afe7045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65897955ba45df" /><Relationship Type="http://schemas.openxmlformats.org/officeDocument/2006/relationships/notesMaster" Target="/ppt/notesMasters/notesMaster1.xml" Id="R439673823dde44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f93371373b4d01" /><Relationship Type="http://schemas.openxmlformats.org/officeDocument/2006/relationships/notesMaster" Target="/ppt/notesMasters/notesMaster1.xml" Id="R5a44e597b8aa47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de742435fc4586" /><Relationship Type="http://schemas.openxmlformats.org/officeDocument/2006/relationships/notesMaster" Target="/ppt/notesMasters/notesMaster1.xml" Id="Ra7e43aa80ccc44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041719bfb64521" /><Relationship Type="http://schemas.openxmlformats.org/officeDocument/2006/relationships/notesMaster" Target="/ppt/notesMasters/notesMaster1.xml" Id="R1047285b040a40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d162f796d04954" /><Relationship Type="http://schemas.openxmlformats.org/officeDocument/2006/relationships/notesMaster" Target="/ppt/notesMasters/notesMaster1.xml" Id="R88f1b81456954b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dd0fe3d030467c" /><Relationship Type="http://schemas.openxmlformats.org/officeDocument/2006/relationships/notesMaster" Target="/ppt/notesMasters/notesMaster1.xml" Id="R871b7a1f464f42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fc08d58cc5470d" /><Relationship Type="http://schemas.openxmlformats.org/officeDocument/2006/relationships/notesMaster" Target="/ppt/notesMasters/notesMaster1.xml" Id="R4833030e1ba64a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548b24f9da40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62a0c0afac41ec" /><Relationship Type="http://schemas.openxmlformats.org/officeDocument/2006/relationships/slideLayout" Target="/ppt/slideLayouts/slideLayout1.xml" Id="R266f690be0ab40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6f690be0ab40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9358c65d84979" /><Relationship Type="http://schemas.openxmlformats.org/officeDocument/2006/relationships/image" Target="/ppt/media/image.jpeg" Id="R282b742f847c4ba9" /><Relationship Type="http://schemas.openxmlformats.org/officeDocument/2006/relationships/image" Target="/ppt/media/image.png" Id="R1d6cd5df176c4cf7" /><Relationship Type="http://schemas.openxmlformats.org/officeDocument/2006/relationships/notesSlide" Target="/ppt/notesSlides/notesSlide1.xml" Id="R00994623527c40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aece88c074c29" /><Relationship Type="http://schemas.openxmlformats.org/officeDocument/2006/relationships/notesSlide" Target="/ppt/notesSlides/notesSlide2.xml" Id="R2c57133d5f404a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7fa688834472c" /><Relationship Type="http://schemas.openxmlformats.org/officeDocument/2006/relationships/notesSlide" Target="/ppt/notesSlides/notesSlide3.xml" Id="R52099afc3d0e4e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f7e9e066a4051" /><Relationship Type="http://schemas.openxmlformats.org/officeDocument/2006/relationships/notesSlide" Target="/ppt/notesSlides/notesSlide4.xml" Id="Rcab24d40c81442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a9b41494e487e" /><Relationship Type="http://schemas.openxmlformats.org/officeDocument/2006/relationships/notesSlide" Target="/ppt/notesSlides/notesSlide5.xml" Id="Rb7fcdcbccff24c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3e6324a014a31" /><Relationship Type="http://schemas.openxmlformats.org/officeDocument/2006/relationships/notesSlide" Target="/ppt/notesSlides/notesSlide6.xml" Id="Rba93440d8fbb4a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acb8b92d74b57" /><Relationship Type="http://schemas.openxmlformats.org/officeDocument/2006/relationships/notesSlide" Target="/ppt/notesSlides/notesSlide7.xml" Id="Rd9b1dc6e94a74e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f9864ea174da3" /><Relationship Type="http://schemas.openxmlformats.org/officeDocument/2006/relationships/notesSlide" Target="/ppt/notesSlides/notesSlide8.xml" Id="Rafe0bb2cb90541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8B0833-4224-4966-A1F9-3EF2D2FD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070B7-A307-4CF3-B463-DA23ED06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AED01-87B4-4F0C-916D-DC886166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D4215-9E54-48DE-9BE5-E7C90376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48912-24D3-4CB4-9918-7B41090A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839B8-B7B8-49ED-8882-52ED6670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3FAB5-BB40-424E-B683-066B97E3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E78D1-E40D-4064-9B00-0FA20CDF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23ABC-2ABC-4856-A1FA-4F5D2894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9B633-AD92-4026-9CB3-DBD8DFD2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129A7-83A6-4C2B-B69B-3F12E936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D85A5-F0F9-4C22-9B7D-F390CDAE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0FAFA-9FA1-40B0-BF43-9C2FE636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57681-6369-41FB-808B-816859DF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BF7F8-9967-4A58-8218-3EE07B29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38681-7B7A-44D1-BA60-2D7A616B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FB633-1E27-4248-93D7-C9859CD1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608181-4E40-4C3F-AF85-B2C1B4A9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C9F235-6DA6-4AF8-A4B4-8322C99B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23D66E-2F55-45C2-B079-E1EAB216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8099ED-C1B6-4F71-A8DD-96533B21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9BDFD7-2865-4E9C-B1FA-49A2952A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70BB7-384A-477F-AA79-5B4AF975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41606-CCFB-4340-96FD-EDAA3613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E158BF-5233-4223-8837-9C0329EB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949E0E-74B0-4544-936A-10BCA1CD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754E80-224E-45D5-AB2F-50086FF2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44FF87-F313-4C45-B2CB-0C249615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EFBC8C-CB19-4CB6-97D7-DA66B076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ADDECB-75A9-4D66-8934-2002F8E5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647102-F51F-40BF-9F92-A70F10E1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E50192-694A-4015-BF80-09CAF99D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99AB3B-089E-4224-B7D8-A347CAD9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AB4CFA-A143-49F2-AD2C-077BB7EF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0F899A-6221-423B-A156-14302CD9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335684-C89F-44EE-8589-217B7D07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8BD48A-1DEB-4E1E-998C-6F64EEDC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6A06C1-DDEC-41FF-BB05-609AE85C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0927CF-C6CD-45D9-BABF-507BCAFF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E7A47B-9D80-4F66-AB71-2E56C9D7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1FD67D-302C-49E5-AEE2-913B362C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AF9A17-EC40-4DF3-A7E8-DA6BC81E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D843ED-3B32-4C8F-A7B6-B0E19897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2B51A7-DA7F-41E2-A6A8-3948F25F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514A9A-70BB-4545-AF41-0226857A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05562E-F730-4EBB-A325-2CC2BC5C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FB845E-62AD-4702-BF7B-E291C7CF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4B8F5B-80F8-4A60-9441-F906FFA8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977183-6247-4B36-BE0E-098BE41D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BC365F-7DFC-41DB-8E4C-C37AB81E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AE4867-97F0-40DF-8EDC-E9BAAF3C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966B44-B155-4698-9745-900C0057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b742f847c4ba9"/>
          <a:srcRect xmlns:a="http://schemas.openxmlformats.org/drawingml/2006/main" l="26563" t="0" r="265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715000" cy="6858000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5BDD40-14C2-4741-9B45-A0A9B850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322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Extensiones de la regresión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FCD24B-F83B-4392-968C-C11A0485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562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Interacciones, transformaciones y varianza robusta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D605D6-8828-4173-B573-E961F838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José Ruiz-Tagle Maturana</a:t>
            </a:r>
          </a:p>
        </p:txBody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cd5df176c4cf7"/>
          <a:stretch xmlns:a="http://schemas.openxmlformats.org/drawingml/2006/main"/>
        </p:blipFill>
        <p:spPr>
          <a:xfrm xmlns:a="http://schemas.openxmlformats.org/drawingml/2006/main">
            <a:off x="6571151" y="5381625"/>
            <a:ext cx="3716948" cy="904875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D29157-EAF3-4448-9895-71BFCE29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D94DBB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5745093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DF5C47A-6085-4376-89C5-3C4593FA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80789-7476-48A2-84FE-D2B31A17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667BA-AB7A-4693-925A-8CE2A753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124BB-C809-46E6-9707-BAB57500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4A2FE-236A-418E-ABA3-381EDA43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2FD3E-6B8D-4681-8FE9-736595D2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4C71F-F1E0-4C2D-A6D6-83C5E65B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2E927-6A28-4924-82B1-C4893D81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410A1-6862-4894-9FB2-8EC2A4D9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CE8E9-BB39-47F4-ACFB-7BBE11DB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CE87D-1CC1-444A-8D45-3CD4CB40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51141-A564-49B6-A8C2-03B6F4EB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A920C-BA8D-4B74-95A0-5904BA2F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D3EFE-7251-499E-819C-3137E274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B592E-2289-42FA-99AB-5C923899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68A56F-D0A1-4D4B-9295-D2AC8F13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DD2DF-0B35-47B0-AFB8-F775A5D4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50F9A-F5D7-4C62-8321-CA399E15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55B13-F353-4856-9ADF-7E2F5044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5C9E66-4A47-4A8E-A4B7-50FC6F05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6DF30-5D92-402F-830B-27C8BAFB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467D37-764B-4B8E-B7A5-64A1D9ED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D4783-3807-4F08-BF55-3FA62F14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C518D3-B7ED-401C-B845-9846A29D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18B82E-BB29-46A6-AD2C-7BC2F634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E7802C-D2C3-4FE5-AAF7-45D9BA2C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7587CC-4610-4FBC-910F-7CB6F561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6D596E-E380-42ED-B2B2-9A0572D6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DEBC48-3193-454B-AFA1-DC166D14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5EA873-4C9C-4F50-BC8E-43FC2BA0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C9C28D-65A1-4B97-B56E-3DE29404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795062-E23C-4BC7-846A-0322A39B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98C47B-213F-4772-B2B3-E445B216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6FA232-78B3-47D4-A20A-112BC31E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1A6019-DB6B-465E-B815-402FFDA3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2F3A60-2A09-41C8-AC96-EDA4A34A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699D70-ED2F-4229-9C0F-D0CEAD7B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0173A3-56D2-4724-89F4-B0463362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ED158B-51D0-4EBD-9EA9-6E15AD37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9E65E5-B1BA-4D5D-AB51-31168668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E830F3-FE3F-4A91-A261-44861E27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09F44F-BF85-4BA0-A24A-EC865D7B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2F6179-3A8B-44B5-AA42-E5C1C2B5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AC369B-F1AB-4EC4-8B82-F4413932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4718C5-F878-43CB-8332-FF610A82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0665C0-AB54-49AC-B8CE-F8C63EA6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00714B-ECFD-4642-8706-C4127672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E33FCB-711C-43BC-BF93-CE534B92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6EE69E-ADBB-4810-BD67-BE9E2DFF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A858B5-8A88-40DD-9944-F538C76E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4143C6-6F02-41A6-AA17-016071F0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B96902-CAB4-4495-9047-BB9A0B35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A6F331D-BCA5-400A-9417-C5437708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983447-C55D-4255-AC65-285C10A6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Tres razones para extender el modelo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3D673A-0797-42EA-9452-0B2B21F1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5B2E3C5-146E-48FD-BCA9-7ECC98F3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El efecto depende del contexto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2B2B38-2711-4AB4-B5D7-61877745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Interacción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8E460E-6176-4B0B-B138-0E9B5CC7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La relación no sigue una recta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760090-61EF-4284-82A9-21A73C13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Transformación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F42E0D-5A11-4701-83A7-1D32B56A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La dispersión cambia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C054158-7CDD-4F6B-910E-067050F0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05125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Varianza robusta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5B742B3-B8A3-489B-8CC3-09693DB4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Cada extensión responde a un problema distinto. Ninguna reemplaza el razonamiento sobre el diseño y la pregunta.</a:t>
            </a:r>
          </a:p>
        </p:txBody>
      </p:sp>
    </p:spTree>
    <p:extLst>
      <p:ext uri="{BB962C8B-B14F-4D97-AF65-F5344CB8AC3E}">
        <p14:creationId xmlns:p14="http://schemas.microsoft.com/office/powerpoint/2010/main" val="588290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AB894DA-E90B-4EE4-A1FB-2388669E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8BFC1-236D-42AF-B091-08C0EC52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FBD88-4086-44B8-8C02-D80230AA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6D0ED-C5B4-477C-AF8D-FBCA4F49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BEB2D-5CA8-452D-9E2A-57967ECA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39541-272D-4DBE-B2AC-228FE0B5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BB957-A5D2-4A0D-A354-EDB4E8B0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15FAC-18B2-46D2-AB57-FFE53095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C2959-FD9F-4354-BBFE-292A5AC1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B0054-1C11-468E-A08B-724C28B9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8BC8C-CB11-4A9C-84C5-CE4C6427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81482-E925-4AA2-AAD8-B0B3196E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520C6D-2E02-487E-8317-565BD754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9B899-5563-4500-974E-525D1F0E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5FD25-3A9C-4727-AEA4-9FC7458E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05D5B1-BB8F-4A35-97CC-D8198409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CF5B5-A81B-4A28-A8C8-E9CD7EA2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D155A-31A5-423D-ADFE-01C89122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B8315-B176-49BB-B64D-CABA011D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5258EE-17CD-40D1-99EF-8A961E74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4D4749-AF2C-434C-BF39-56F5223C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A5FF9-F02B-496F-8E33-D7101DD0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0D936C-DA74-4EFF-97F0-E2583149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57FB5C-134D-4824-A608-24559083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C0F062-4B8E-4F0C-8F23-333A824E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7C2E34-B456-4894-8183-398CC8EA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243C9E-057B-4259-ADB5-92820548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B0E9FC-F89B-4912-84AD-4FD1CAD1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54000D-CFD3-4CAB-8D3F-E5E91EC9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1792A8-9679-40CE-B55F-977EEBE7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150E30-9578-4A6E-87DA-8117101C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6DCAFB-8526-48CA-8484-BD090E6F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264AE8-680F-4E65-89F8-A21E11E7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1C14D8-7121-4366-85C7-C0F3D12D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126DE0-C99F-4B51-86C3-EC972F16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2A951F-D258-43FF-B4F1-994517DD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0680B5-1DDC-4931-9B90-30537711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B6EFA7-4685-4926-8E74-6961FE92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1F8969-71D9-4B78-A06D-C78727F8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81AE74-3ADD-4F01-9744-AE166DC1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CE0CE7-A09F-45D9-B636-E094AFD8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AD21F5-3682-426A-AD26-9F836E0F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5F7C7D-31DA-4A38-8251-EA8CF04C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B86FE5-9A03-45EC-ABCB-385B011F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4282DA-59C8-47EE-9E94-789BAFC0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E0989C-B16D-4CBB-8605-F85C9DF0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ACAAC4-399B-42B7-AF64-58115BC8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FC5ECB-9DF8-45CB-B36E-F51FF5A6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A85B54-CF95-4E85-8CFA-169876A9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C355E4-6C4F-4863-9B6E-BCDF1DAC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5B87E0-F3B2-4DAB-AE16-32E8A35C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64E827-088F-4C56-9A75-2F27E2F6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7694A6-A77F-4955-9498-DE50A99D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1371A7-D87C-4ADC-946B-D4676B63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Interacciones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C0DE49-5BA7-4041-8407-ADF5590E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334A14-5720-4991-A46E-D0E18828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14300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El efecto de X cambia según el valor de Z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468C22-A3EB-45DE-8D94-F03DE6D0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5737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Y = β₀ + β₁X + β₂Z + β₃XZ + error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691500B-0D78-43E4-B20B-032B9430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3333750" cy="2238375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D94DBB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253476-A988-4F74-9C39-A53CE8BE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3333750" cy="1000125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867E8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FA5959-0F7E-44AA-A257-304E65F5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146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Z alto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B5A1EC-4AA9-4D5B-8756-E88F2DAE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052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Z bajo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A29674D-4B6F-49DA-AD2A-1578739B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095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β₃ mide cuánto cambia la pendiente de X cuando Z aumenta una unidad.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0823361-EBDA-4F03-A937-B387BBE3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15000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A2C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A2C2C"/>
                </a:solidFill>
                <a:latin typeface="Aptos"/>
                <a:ea typeface="Aptos"/>
                <a:cs typeface="Aptos"/>
              </a:rPr>
              <a:t>Los efectos principales se interpretan en el valor de referencia de la otra variable.</a:t>
            </a:r>
          </a:p>
        </p:txBody>
      </p:sp>
    </p:spTree>
    <p:extLst>
      <p:ext uri="{BB962C8B-B14F-4D97-AF65-F5344CB8AC3E}">
        <p14:creationId xmlns:p14="http://schemas.microsoft.com/office/powerpoint/2010/main" val="9062459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81B36A6-D0CD-4800-8839-8994E74D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3B7D3-6E93-4B2F-8CD1-93104751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64D76-6BF5-4BD5-9783-71E1A0DB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831E3-E297-46AB-B008-AF83A438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9594C-8383-4E14-9F10-C865EF0D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FF450-EE86-498F-BD9D-94CC3181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BFC84-15AB-4515-B486-2AD50781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DB2DA-9064-4408-941D-7593DEC0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CAAD8-B3AD-44CF-AFDD-A5466427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6D0C4-CD25-4139-86CD-105B5704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FB49F-AB01-4D8A-B5BB-8FE033DE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445CF-8189-41C9-A09D-02791F8D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BB5BE-8EA5-4038-8DDB-786131AD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7B19B-3918-430B-AE3F-28226D9F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1C1059-A8DB-498B-AC90-CEB88FC1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694B6-8BFB-4868-A295-88C866E3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3A6B20-C124-473D-BBFB-767E268A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15575A-81BC-432E-BCE7-F1F7EC1D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2E70A-11C6-4872-BF62-0E0C609F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99F09-60BB-40E6-A736-ADB36AF1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C3C021-E8F4-4672-99A9-20445153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002C8B-CD54-471B-B087-B036D460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23F962-B25F-4A09-8A92-52E62058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C44B2B-BF4C-4824-AAFC-7587F82E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E8C0DD-AC9C-4BF0-AAD7-766B227B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B56240-7DBD-4935-A42F-0BD83FEA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FF0F0D-D68A-4F52-87A2-9307A103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A95FA6-D41F-4117-AE9E-7055CE14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8AF551-9B11-49D3-BCB6-A8C54B45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69FA93-8B98-4C7A-B11B-FB051EAE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60EA07-1004-47B8-A3A1-F2CE8161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F2390D-19CC-4CDA-9148-CC0746F6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4A99A8-EC57-4F0A-A204-1E8A1136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4BB64F-DC15-4147-A7AB-EE41177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7B6739-106D-4558-9E93-551A89FE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D008A5-B882-4E4B-98CB-8DD53DEF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D92C67-3408-4374-A4F6-8232E08C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99E8CC-1589-4AF1-A4C6-14AC4711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AAB307-48B8-486F-BD91-F166D308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159071-AD61-4436-B471-CB5B340F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78A460-7475-42F3-B822-25639395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232503-CC71-4C03-A92F-191B8161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D91F4C-84D6-47CD-BFD2-D31EDDAE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54E954-F1AA-4E43-B703-55D96EC8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A37329-F435-43C8-B297-FF816C9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BA8621-E754-4D8B-8AF8-7DC9FCEF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F26C8B-15FF-40D1-9C51-C45B8D35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F0DBE3-740F-4C81-9938-96D47569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91E321-6051-4378-ADE1-1ED835E9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A4F543-0DEC-48E3-8A13-0CEF3E74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DA1DC1-CF88-46D3-92DB-EA41ED10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9252A0-5826-4E8E-837E-101397FC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9CA17B-B932-4528-B4FC-8F64B621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4CB0DF-6B97-42E7-9EDC-755B4BD6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La interpretación requiere predicciones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C005F9-6FE7-4A01-B9EB-ACC3D08B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06FED5-D4AF-4AE4-9F75-9DE39DC0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143000"/>
            <a:ext cx="895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Un coeficiente de interacción aislado rara vez cuenta toda la historia.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7DC459-A3FE-4684-A10D-FAC8E910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5143500" cy="1905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D94DBB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C355C6-6BB4-4F9F-81EE-4C7CF776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43450"/>
            <a:ext cx="109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PIB bajo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B84432-FD69-47CA-A925-402157B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5143500" cy="114300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867E8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128AC52-F3A8-4E9B-9ECE-942279D1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90950"/>
            <a:ext cx="109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PIB medio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8866C46-516D-4304-9E8F-67887717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52750"/>
            <a:ext cx="5143500" cy="219075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16A078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B7A3B2-0C79-4107-8A94-4B665073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43200"/>
            <a:ext cx="109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PIB alto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A461458-AA1A-41DF-AC57-9866DD44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1. Elegir valores relevantes del moderador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9692A07-F430-43C7-AC26-11AADFF5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2. Calcular predicciones e intervalos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F53930E-8004-4816-AF69-99A057E4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43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4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3. Comparar pendientes en la escala de Y</a:t>
            </a:r>
          </a:p>
        </p:txBody>
      </p:sp>
    </p:spTree>
    <p:extLst>
      <p:ext uri="{BB962C8B-B14F-4D97-AF65-F5344CB8AC3E}">
        <p14:creationId xmlns:p14="http://schemas.microsoft.com/office/powerpoint/2010/main" val="1496628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E00EB56-1CB1-4F3F-AF58-CFBA234C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5BAFE-DBB2-4051-B701-22430541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31F85-15D8-4692-B82B-24F81FA8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59E13-0387-4E41-9768-55A70769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68867-212A-4880-B546-C4C9A49C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D2A18-F79D-49AF-BD5F-F5B2EE03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6FD76-9723-4A81-8E60-C449CBEF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6E208-D5C2-47B6-A5CF-069A7A4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FB286-89FF-492B-BF9F-F0EB1693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9407F-3DD5-493C-930C-F2680A5A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61142-77C4-476F-98F6-79382A32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68ACB-AF24-4E3E-8C2D-4589447E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D54A1-1213-406E-B56B-D1D2334D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F8464-309E-4D7E-9172-F79DBDD3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C04F6-8910-4725-A9B1-D1E2CE83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196BB-0CBD-4DF1-A360-330D6E10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AE2C0-847A-400C-BD98-2DDDB8BA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1F59C-DD80-4D2A-AF17-59866251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AD0F72-2925-4D90-89C4-38D3E965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F18C7C-3182-4CDF-802A-BC7CE1E4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D8CC2-4D35-47E8-83AA-12263104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15EEDD-836E-4D05-92EC-D587FDF4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57F0D-6CFD-45D4-AB33-1928B790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CC2C5B-5345-41DB-A71B-190021F0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54139E-0951-4CD5-8808-E79FC48D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764532-1159-406B-B191-69D4230F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009BF3-8D38-47CA-9720-1EAF5AA0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CFD2FA-EB38-4B3B-A53B-C6B89257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4C7705-72E8-4C8A-A451-FA48C3C8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6CCDD1-13BA-4DFD-B1B7-4C538C62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B56073-36D1-4BAB-BF91-95D1EF9F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893C70-DDDA-491E-B3E1-49F59AAA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3D632B-D427-4288-9CF8-5CD0EC19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AFE0F4-3F31-4DF0-BA50-A99BD4C2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4911A4-0D7F-4BEB-A729-62D396B7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066A7E-3235-466E-851F-47EB07F0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FD4CD2-159B-4423-B5AB-17B388DE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E774DB-875A-4505-8FEF-BCDE0A82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DB2CA4-C0A2-4569-B297-1440A72C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FD849C-F336-4009-BD3F-400D1039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85C33A-EE04-49D6-B4B5-54845A74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8FD8B3-8A3F-4E75-B6FE-9A14CEE7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E42418-419D-4F3C-8324-1424A475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CFE666-D4F9-47BC-97B3-FBE71716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0BE500-5282-4ABF-971F-5E40BE13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E7643A-6AE8-4EE0-8096-D413EE7B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A9518F-46CA-4F2F-B445-C54AB2CA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F83794-C6EE-4C5B-B9DF-62801927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DEE799-FDFD-4399-8BFB-F5064D5C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7C18D7-FC4B-48F4-B420-DDA0BEA2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6A25C2-5D30-4C8E-9544-FB2D8196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AA2B0C-0C72-47F1-A263-5EB61933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6898AA-E7EE-49B4-94C3-1D49D9D5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B43C80-8EF3-4209-A74B-B98D7949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Transformaciones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65696E-4166-4AD0-A27A-97CC2B7F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625730-28A1-4FCB-B6FD-A707118E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7637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Término cuadrático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E43B06-4B6C-49FA-ACF8-6673AE25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D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Y = β₀ + β₁X + β₂X²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D8DBF5-047A-47AE-9735-E63BBF22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La pendiente cambia a lo largo de X.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86F402-5E16-4A2D-B446-B07093A7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7637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Logaritmo de X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DA18DD-9724-4035-8A2E-6869E2AE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Y = β₀ + β₁ log(X)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90F601-F371-4537-A2EE-07F46C7F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385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Comprime valores altos y cambia la interpretación.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98F538-BAD4-49AE-AAF0-3DDDA744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Logaritmo de 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F8B1B6-FC6B-4AC2-BC92-D70B3666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log(Y) = β₀ + β₁X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160F6FF-BA6C-426A-BD5F-A03EA96F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385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838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La pendiente se interpreta aproximadamente como porcentaje.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344F899-73F8-4A40-82C6-1A3022E3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9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La transformación debe responder a la forma de la relación y producir una interpretación útil.</a:t>
            </a:r>
          </a:p>
        </p:txBody>
      </p:sp>
    </p:spTree>
    <p:extLst>
      <p:ext uri="{BB962C8B-B14F-4D97-AF65-F5344CB8AC3E}">
        <p14:creationId xmlns:p14="http://schemas.microsoft.com/office/powerpoint/2010/main" val="1097003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87051B9-A252-499C-8887-F7E9D4CB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7A589-F001-489B-A6ED-0A974706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767AD-E993-4C78-B442-BAF169FF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C3663-21D5-4940-9774-DE08BF4B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D928B-5AD8-426C-8D40-C9EC8CAB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374FC-F247-4991-B4BC-D1E6024F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4D65C-2573-40D0-8CC9-2987918B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A1800-A4CA-4F7D-BCDB-9B6ABA8F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AF50E-52B1-48AC-85D0-039E033F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E61E4-586D-45C0-9486-794F1D33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85FE8-A3B8-41BB-ABF0-C1EC37F0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3C675-6E9E-4F1B-B91C-FA158D64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8A1EA-3C3D-4067-A5A6-EDDFA28A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1EC24-4A7D-406A-BB67-F8D68640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70636-6BCB-4B48-8C24-463CADFB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D3558-9F71-4968-8E67-57F71F73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E039E1-F5EA-4DAB-961E-CC16CA26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BA0A6-EE19-48BE-83A5-203B4C87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A5E1F9-A6BF-4C3F-B946-0DC2586E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E9A582-C637-4708-8963-D6F56D59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2F151F-2CD2-4C00-97C9-0DEFB618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3FA2B-56CD-4D43-9428-04947F6A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28ABD6-FDC0-4739-BFF0-BFEF129C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F1AEA6-5FEF-4100-9BC6-A4F8C8CF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0D9490-FB71-439D-8260-5A3E4E9F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CD01EC-026E-412A-9259-1AFEE83A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047BC1-5136-4724-A427-99D25A8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049ED5-F909-4473-B783-3D64F679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3F7310-351C-4E31-96F0-8302DE1D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E51C04-A421-4CC3-B714-65BE1A47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DCFB10-B4CF-45DB-AE63-2C996746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F30952-5B88-4BDC-B03D-E7FE4753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D6CBF2-7D18-4588-B463-E49AEA50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FA6D7E-00D5-4303-8194-45E43E28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38E371-68CC-4447-BA73-962C7B61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150F99-BC5B-48CB-93CE-33771399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7B59AD-0FB3-416E-B419-EE740F72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AB939E-8EDC-4E41-99ED-3C8CB659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E4F68A-F527-46B9-8612-1E45713B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CFFAA1-CF0F-4C40-A733-F545EC89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090B44-DB82-4F49-8E44-71CC82BB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F6CCCD-2A07-4FC8-9731-488889B3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B2923A-20A6-4D71-9369-1C92B092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C079E5-DBA5-4550-A10A-44160CA4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69B319-6F8E-45BE-A5F7-43C2809C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14730D-413B-409A-A0AD-49C0D05A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39B0C4-9691-4863-8C80-F66BA6D3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33E44D-E484-4F78-BF81-7E0CFAD0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B28226-769F-41FB-B74B-F72315A4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5CFE9F-0DBD-4688-8A49-C5B0547D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D8ED08-4480-4812-9EBB-52229226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93F6C3-561E-4556-8CED-8C27369E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0F5E17-93C8-4DBF-B3C2-6AE71409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A44197-200A-427F-ADB8-4478A5CF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Heterocedasticidad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9DD1B8-B8A6-4DBA-B9F7-A6499D1E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B338AF-C775-4F97-B320-5098CAAA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1430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La variabilidad de los errores cambia con los valores ajustados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BC2E654-667F-4484-BCAF-E757DEE2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8572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67085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FB598F-EC6C-494B-AF79-A965B417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9E4101B-EE2B-470C-B22D-C8A4CB40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91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EF61F4-387A-4D85-86DD-43297DC0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57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D44C494-A1C4-47E0-9394-64542A9B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962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CC44C6C-51D6-4023-97BE-CA790E00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05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68C329-966D-4B26-81C4-192F3127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572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5FAA8F-98B8-45C2-A0F5-2E7DD567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9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6A8FA83-3575-4762-930B-F61A52E7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857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1BA42D2-DFFD-42F8-BEA0-78E99550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057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50D9693-17B0-4A89-8A73-546B6CBD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8B5ECD2-7935-49DA-A8F8-3F0339F1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382375E-17BA-4B53-9913-7B7E72DA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600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079C947-13F1-4C0A-9325-520AF668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857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57210FE-C0BA-4655-BBA9-AF94C0E2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153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8B1EE7D-AB98-465C-99B0-113E8D23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486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E0CA1F-2B8A-46C6-BA35-10C63C1A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386C686-A39A-4A2C-B702-CCC17C21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05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FCB0868-9DC4-4DEB-9E09-6C749B3A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857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C554975-5A9E-4881-A7F2-5D60BAD4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48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75B2C18-1F01-4EBC-B0BB-6F8BF747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676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A81B430-98E5-4069-81A8-21827C11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66EE603-08E6-44BF-B97F-C0A0FAC4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410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41B2A7C-3C96-4389-BA77-3C0BED75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57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07312FD-50B0-419A-97B1-CC0F9F48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343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44A7461-6138-4814-9A4C-803B06E1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86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783D61D-AAC8-4899-95D8-704A81A7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AF11B05-4AD2-4CC7-9C24-466440C1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2B3871E-5C29-4E31-8EF3-950B42C0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857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E70CB37-B0A4-4EA7-BEB6-FC042A2C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24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A2C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A2C2C"/>
                </a:solidFill>
                <a:latin typeface="Aptos"/>
                <a:ea typeface="Aptos"/>
                <a:cs typeface="Aptos"/>
              </a:rPr>
              <a:t>Consecuencia principal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8C54662-06C3-489C-970A-1274A595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245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Los errores estándar convencionales pueden ser inadecuados.</a:t>
            </a:r>
          </a:p>
        </p:txBody>
      </p:sp>
    </p:spTree>
    <p:extLst>
      <p:ext uri="{BB962C8B-B14F-4D97-AF65-F5344CB8AC3E}">
        <p14:creationId xmlns:p14="http://schemas.microsoft.com/office/powerpoint/2010/main" val="2639598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52929E3-17BA-441D-B112-79D4B49A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BE729-F417-4FA1-A8CD-E0B60BA2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36A57-FE21-4DB8-876B-C2B1894B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FC739-E9DE-4E0D-B50C-521CB0B3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CED75-F4D2-4CF4-8A4F-3BE1845F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F1CBA-6FF6-4CEB-932C-30ABAE5A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93B8E-07CE-4A8F-9F5E-006F782C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80680-2553-4DED-875D-5DB108F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39E3E-97D1-47BC-8932-9DD73F8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C0695-CB23-42A2-A821-C2147D53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DE1FC-21AD-4E29-AD9B-A938FA92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4E4A4-35ED-44A4-BA82-EC60AA64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8F90A-6B87-474F-AD26-28447F74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19488-74C7-4D22-917C-A6C9FA82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A51BCF-3839-4BB9-9F29-5EA7CDAA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D09C0-DD95-41D9-AD00-48B9054B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BD772-345E-4D15-B17E-149CF0EA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63089D-49C8-433E-98FE-A0AB6831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34B45A-80AA-4928-AE52-8F949ECA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86C954-F1F3-45CE-8199-8839F3D1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3036A-5C41-4AF8-93BC-027CD25B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781E05-E347-4BBF-99B8-B600E619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C70856-A5C0-44D7-B674-3459A641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6A4AA4-8021-46A6-9106-BC4E11DB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06FB30-AADF-407C-ADE4-EABB8765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B4007C-9CA5-4063-8738-336EB494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BDCE9E-A06C-4BCB-BDA9-87D71B97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D39D26-03D2-4F21-9B02-3EA480BC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C8947F-3487-4404-9BF9-70F186CC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2547F9-2D47-4504-8362-5D7E9518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DBBF0C-DBA7-49C1-9D10-3C83DE77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6F3076-5FED-45FA-B3DE-FB5907BA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5CCBA0-F07D-46E8-85AE-E67F8214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473E9A-4BD3-4881-A911-9781BD9C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D317C9-C30E-48D2-A1EA-435BC8BC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9C64F7-7970-4AF0-9D65-16A2DA3E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978B02-4614-4D98-9B1F-7F39C334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1B8EBD-55CC-42B2-B1E0-1A34E5B4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61DB8E-91F2-4DEC-A0E1-B894AB81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0FED8C-4445-4BCB-8905-F16E0708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F40564-0189-49F2-93B8-81CD2918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02FA35-D0DE-4B48-9B4E-1FFA0A99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DE07C0-87A4-4A49-B850-E2EFC85E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0ED4C0-1D23-437F-B82C-DC48B6B7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B6F3C0-E2BA-4F36-887B-A88A1CAB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2D271C-2796-4C28-819B-95317C0E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C29943-7BD9-4F7C-A4E0-F12A38DB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B73541-3844-41BA-A10A-7CC96B57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9B7662-FA94-4084-8D9E-CA446EBD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63D77C-B456-4B77-BB88-D50CA18C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4955DE-D839-41B4-84FA-6A23BC45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2791B4-DCE4-49BF-8A0F-608AA9AE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F9EF3A-BF7A-4084-9DC3-EEF0CF53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86C370-1806-4DD3-8D64-B2B65723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Errores estándar robustos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7FE3F8-DCF5-4708-A796-309BD6C8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2C1829F-1734-438B-BF25-A17D42AF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190625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Los coeficientes OLS permanecen iguales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4C2C6E-97AA-481F-9649-3FD50092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β̂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D45287-CBBE-4899-A724-E4FEB004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Misma estimación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C37388-E2BB-4876-A366-0658ADFD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43125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D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SE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8F2675-55A3-4DF6-A993-047862B5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4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Nueva estimación robusta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31B9C9-2A2A-4D3F-A69D-5C6803CC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IC y 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23F8A0-C7C9-431F-BCB8-993E4586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Pueden cambiar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D4E3280-D2C4-4899-A651-2EC8D242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A2C2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A2C2C"/>
                </a:solidFill>
                <a:latin typeface="Aptos"/>
                <a:ea typeface="Aptos"/>
                <a:cs typeface="Aptos"/>
              </a:rPr>
              <a:t>HC3 mejora la inferencia frente a heterocedasticidad. No corrige una forma funcional equivocada ni sesgo por variables omitidas.</a:t>
            </a:r>
          </a:p>
        </p:txBody>
      </p:sp>
    </p:spTree>
    <p:extLst>
      <p:ext uri="{BB962C8B-B14F-4D97-AF65-F5344CB8AC3E}">
        <p14:creationId xmlns:p14="http://schemas.microsoft.com/office/powerpoint/2010/main" val="18195681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6F226A4-FD77-432D-89B4-4121F6F9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64817-964E-4B42-B293-2F444F79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31F21-571E-4A26-A389-6E9E15A7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53A4E-A60B-43DF-B169-627A57B5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31D07-EE3D-45DA-AA71-E2E845ED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0186C-5B98-4F5A-B65F-7DAF5A70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82E7A-C14F-4DB3-84EB-3C53D52E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CA304-C5C7-4270-8000-2E6C7460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6E73A-34E1-40C2-BC72-44C11983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5A021-83D6-42C9-A759-59F3F6E3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981E0-6BD2-4360-B3A0-0CEC88CA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086B7-14E4-49A6-A274-E63ECD9A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AB50D-9369-4A45-AF71-F7D1DF67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DC138-E109-4F08-9449-CAA7C1FC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F9ACB-96D0-43DD-BA72-20F6B719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B6B84-DB1B-43E8-8FB2-55CB862E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0854D-6CBE-4D4F-96D5-8B798E37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4EE6F-F26B-4E92-BB6A-524FC5B3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5A7C00-6BF5-4691-8FA4-434489D9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FE3AA3-3729-4E84-8D5D-2DE8FE01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67D62-94FF-4141-988E-AA849AAC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6127BC-D0C0-49A0-9CFC-FBD34532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4DF8D0-6661-4559-86FA-39871DB6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0C3C33-2C24-4E9B-8093-8EB31CF5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338A62-A2FD-4151-AC27-C1601F9A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05C928-17F6-48C8-B83C-FF55B6EA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99A3BB-7A33-43B2-BC77-E65C96B0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5F8C1-AB93-4E60-843B-C469E266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FC9054-BA5D-409D-94F0-43E0AB88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D2740B-377D-4108-A6FF-BEE70809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476D82-953B-4589-9B79-6EB14142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230975-F63B-496D-BF0F-7B364B29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41F853-870B-4CF8-A32A-E9E91878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93C929-C65C-4654-877C-9EA55537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7FFE1B-5F7E-41AE-9499-2955CDD6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A8A89E-9E69-4CD2-816D-0EA803AA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24CF39-585C-4596-B857-1771A5F3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84D04A-A45B-4C0C-99B3-7DA17BBE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3C1DF9-61D4-4366-A7E9-22502F16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726DD2-8E8B-462B-8902-08D6570E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A6A7C7-AC17-47FA-AFE5-1EA8CF23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93A628-5746-4B68-855D-A2431652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3A49B0-FBF7-48F9-9D87-48101D39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8C2631-ADB5-480A-9750-8BF503D0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442BE9-C379-493B-8F89-0DAC8503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AAC61E-6D0B-4CC0-936D-CADFEE5C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EFE2E3-56B2-449C-B90C-DDA528FA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8099AD-FA18-4385-B76D-31AD5534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6B7AC3-984B-41B2-A8B4-23A0D701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73DC1B-ED15-4470-8BEC-233FACEC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A1B8FC-6484-4822-BBCF-8B5A6234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4584E3-1958-4DFD-AEC9-339B0B1B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38D3D9-667C-4104-B9C8-080186F2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C561068-8032-4B1F-8958-7D37745F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Decisiones de modelamiento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FFAE59-2F60-4F13-807F-2953C6CE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1DDC59-5C7F-4A30-A573-EB60344A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811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¿La pendiente depende de otra variable?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2878288-FAC4-4D91-8F8F-F82324EA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3811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Interacción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BECCB2-4EFE-4D10-9E39-26ABC083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¿El gráfico sugiere curvatura o asimetría?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1A8B87-F5F3-448A-B603-6B7FD6AC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Transformación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DAAE3EF-C315-48A6-91CD-14FDFC02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8137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¿La dispersión de residuos cambia?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ADCF7A8-EB8A-452B-B509-88217927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8137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 robustos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1B86C4-2E4C-4E15-947C-DA68A0DF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815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¿El problema proviene del diseño o de dependencia?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60366F2-9BD9-42C4-84B8-D148A1CD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2C2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Otro modelo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15178E-CAB2-4A33-893B-8DC6183D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La especificación define qué relación estimamos. La varianza robusta define cómo cuantificamos su incertidumbre.</a:t>
            </a:r>
          </a:p>
        </p:txBody>
      </p:sp>
    </p:spTree>
    <p:extLst>
      <p:ext uri="{BB962C8B-B14F-4D97-AF65-F5344CB8AC3E}">
        <p14:creationId xmlns:p14="http://schemas.microsoft.com/office/powerpoint/2010/main" val="1417106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2026-09-28T15:48:04.6100000Z</dcterms:created>
  <dcterms:modified xsi:type="dcterms:W3CDTF">2026-09-28T15:48:04.6100000Z</dcterms:modified>
</coreProperties>
</file>