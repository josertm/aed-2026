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e8801e34fd4904" /><Relationship Type="http://schemas.openxmlformats.org/officeDocument/2006/relationships/extended-properties" Target="/docProps/app.xml" Id="R7d4aea5a1b874d56" /><Relationship Type="http://schemas.openxmlformats.org/officeDocument/2006/relationships/officeDocument" Target="/ppt/presentation.xml" Id="R79ff51448d494a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a383d4d3754240"/>
  </p:sldMasterIdLst>
  <p:notesMasterIdLst>
    <p:notesMasterId xmlns:r="http://schemas.openxmlformats.org/officeDocument/2006/relationships" r:id="Rc2d041f831b14dbb"/>
  </p:notesMasterIdLst>
  <p:sldIdLst>
    <p:sldId xmlns:r="http://schemas.openxmlformats.org/officeDocument/2006/relationships" id="256" r:id="Ra320e79b5dc74ab7"/>
    <p:sldId xmlns:r="http://schemas.openxmlformats.org/officeDocument/2006/relationships" id="257" r:id="R0cdf4d6904f04654"/>
    <p:sldId xmlns:r="http://schemas.openxmlformats.org/officeDocument/2006/relationships" id="258" r:id="Rf30b08553b564017"/>
    <p:sldId xmlns:r="http://schemas.openxmlformats.org/officeDocument/2006/relationships" id="259" r:id="R5fd5b2e7c8eb4f6b"/>
    <p:sldId xmlns:r="http://schemas.openxmlformats.org/officeDocument/2006/relationships" id="260" r:id="R55a931da271c4246"/>
    <p:sldId xmlns:r="http://schemas.openxmlformats.org/officeDocument/2006/relationships" id="261" r:id="Rb2e5326ce8b645d0"/>
    <p:sldId xmlns:r="http://schemas.openxmlformats.org/officeDocument/2006/relationships" id="262" r:id="Rf61391437e6d438c"/>
    <p:sldId xmlns:r="http://schemas.openxmlformats.org/officeDocument/2006/relationships" id="263" r:id="R59dda6f190e648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f63b27e557478a" /><Relationship Type="http://schemas.openxmlformats.org/officeDocument/2006/relationships/slideMaster" Target="/ppt/slideMasters/slideMaster1.xml" Id="Rada383d4d3754240" /><Relationship Type="http://schemas.openxmlformats.org/officeDocument/2006/relationships/notesMaster" Target="/ppt/notesMasters/notesMaster1.xml" Id="Rc2d041f831b14dbb" /><Relationship Type="http://schemas.openxmlformats.org/officeDocument/2006/relationships/presProps" Target="/ppt/presProps.xml" Id="Rf3c20091a2074af1" /><Relationship Type="http://schemas.openxmlformats.org/officeDocument/2006/relationships/tableStyles" Target="/ppt/tableStyles.xml" Id="R3cedd88dacfe46ac" /><Relationship Type="http://schemas.openxmlformats.org/officeDocument/2006/relationships/slide" Target="/ppt/slides/slide1.xml" Id="Ra320e79b5dc74ab7" /><Relationship Type="http://schemas.openxmlformats.org/officeDocument/2006/relationships/slide" Target="/ppt/slides/slide2.xml" Id="R0cdf4d6904f04654" /><Relationship Type="http://schemas.openxmlformats.org/officeDocument/2006/relationships/slide" Target="/ppt/slides/slide3.xml" Id="Rf30b08553b564017" /><Relationship Type="http://schemas.openxmlformats.org/officeDocument/2006/relationships/slide" Target="/ppt/slides/slide4.xml" Id="R5fd5b2e7c8eb4f6b" /><Relationship Type="http://schemas.openxmlformats.org/officeDocument/2006/relationships/slide" Target="/ppt/slides/slide5.xml" Id="R55a931da271c4246" /><Relationship Type="http://schemas.openxmlformats.org/officeDocument/2006/relationships/slide" Target="/ppt/slides/slide6.xml" Id="Rb2e5326ce8b645d0" /><Relationship Type="http://schemas.openxmlformats.org/officeDocument/2006/relationships/slide" Target="/ppt/slides/slide7.xml" Id="Rf61391437e6d438c" /><Relationship Type="http://schemas.openxmlformats.org/officeDocument/2006/relationships/slide" Target="/ppt/slides/slide8.xml" Id="R59dda6f190e648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c3255d6d04a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d32c026d72478d" /><Relationship Type="http://schemas.openxmlformats.org/officeDocument/2006/relationships/notesMaster" Target="/ppt/notesMasters/notesMaster1.xml" Id="R72e73382cd7644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0ca109bd0b440f" /><Relationship Type="http://schemas.openxmlformats.org/officeDocument/2006/relationships/notesMaster" Target="/ppt/notesMasters/notesMaster1.xml" Id="Ra5ee808462374e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f51ba4530b4e36" /><Relationship Type="http://schemas.openxmlformats.org/officeDocument/2006/relationships/notesMaster" Target="/ppt/notesMasters/notesMaster1.xml" Id="R54bc65c3040044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2a6c3dda384352" /><Relationship Type="http://schemas.openxmlformats.org/officeDocument/2006/relationships/notesMaster" Target="/ppt/notesMasters/notesMaster1.xml" Id="R43f567d4321047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bd09c8630f4cca" /><Relationship Type="http://schemas.openxmlformats.org/officeDocument/2006/relationships/notesMaster" Target="/ppt/notesMasters/notesMaster1.xml" Id="Rf495207f34f84e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f26ed9a30e495e" /><Relationship Type="http://schemas.openxmlformats.org/officeDocument/2006/relationships/notesMaster" Target="/ppt/notesMasters/notesMaster1.xml" Id="R2f721e0ac4064d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db5d0bb8414984" /><Relationship Type="http://schemas.openxmlformats.org/officeDocument/2006/relationships/notesMaster" Target="/ppt/notesMasters/notesMaster1.xml" Id="Rbe32cf4a21a84f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86941bee4645c5" /><Relationship Type="http://schemas.openxmlformats.org/officeDocument/2006/relationships/notesMaster" Target="/ppt/notesMasters/notesMaster1.xml" Id="R1b7f2eb6f19a43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591abd63a45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a1122c9cae4f15" /><Relationship Type="http://schemas.openxmlformats.org/officeDocument/2006/relationships/slideLayout" Target="/ppt/slideLayouts/slideLayout1.xml" Id="R72f42f224c5d43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f42f224c5d43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13a7a8ba24417" /><Relationship Type="http://schemas.openxmlformats.org/officeDocument/2006/relationships/image" Target="/ppt/media/image.jpeg" Id="Rb876e55aa2444262" /><Relationship Type="http://schemas.openxmlformats.org/officeDocument/2006/relationships/image" Target="/ppt/media/image.png" Id="Rd15be8c11ae04549" /><Relationship Type="http://schemas.openxmlformats.org/officeDocument/2006/relationships/notesSlide" Target="/ppt/notesSlides/notesSlide1.xml" Id="Ra02fb3e02841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2018af24c479d" /><Relationship Type="http://schemas.openxmlformats.org/officeDocument/2006/relationships/notesSlide" Target="/ppt/notesSlides/notesSlide2.xml" Id="R55b7a80b50594b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7d96c61f045b7" /><Relationship Type="http://schemas.openxmlformats.org/officeDocument/2006/relationships/notesSlide" Target="/ppt/notesSlides/notesSlide3.xml" Id="R7fcd3116d5254d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fa85ed6f84212" /><Relationship Type="http://schemas.openxmlformats.org/officeDocument/2006/relationships/notesSlide" Target="/ppt/notesSlides/notesSlide4.xml" Id="Ra399b8a15614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737574564abd" /><Relationship Type="http://schemas.openxmlformats.org/officeDocument/2006/relationships/notesSlide" Target="/ppt/notesSlides/notesSlide5.xml" Id="R063723fe93d345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876eecfad4a06" /><Relationship Type="http://schemas.openxmlformats.org/officeDocument/2006/relationships/notesSlide" Target="/ppt/notesSlides/notesSlide6.xml" Id="R1b6289d3f1224f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800efb2584166" /><Relationship Type="http://schemas.openxmlformats.org/officeDocument/2006/relationships/notesSlide" Target="/ppt/notesSlides/notesSlide7.xml" Id="R85f3c21440b945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d1fbde0fb4c0f" /><Relationship Type="http://schemas.openxmlformats.org/officeDocument/2006/relationships/notesSlide" Target="/ppt/notesSlides/notesSlide8.xml" Id="R64abbb93b32b40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9A634E-9120-4EBC-97E6-F52DDF4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49791-FB67-4B43-88A2-6E3134EA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BD0E8-BE77-4115-BC99-A1D5D6B0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8CDD8-A077-4988-AC17-04B3EE3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FEB85-9AF9-446F-B17C-AEB86CF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8F67C-BB4D-4463-8BC7-BF13D71B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7A99F-3D02-40E9-BDBB-24939760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6B361-12F8-44B9-9794-53BF7CE0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3E6F2-531C-4191-8873-267D80AA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47A470-46FB-4CB6-A9A1-DD777586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47C2F-0AC5-4FA9-8D51-27421A4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968DC-A0CE-4BC9-9BDE-EC1EA22F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082C4-5BAA-4CCD-A5ED-49B0FA00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1BA95-840E-4227-892E-8520328F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06C18-BA0C-478C-B9ED-B63D60BE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4CCDC-F5F6-4D8B-9216-0E958FB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6B3DA-594E-4004-8735-6896E4EF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44CBBD-A03B-46FF-A1EC-E0955CA9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ECEE9-B36B-4CCB-88EF-3C442E6A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06108-9FA8-49ED-A0C5-37AD5168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9A7BA-32CB-45CB-BEE4-EDF8453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005573-FC3A-4D6E-9262-124AC10C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BBB1E-C459-49C8-A695-DC085E13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E4660-635E-4FFC-9F4D-D547C446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22A14-0D01-49B2-AC90-0492435D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3D3DF-C8C4-4B19-A8A2-1B46DA06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70B7D5-878C-466A-9E4D-6F0C3CA8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E97F3-5AEB-454D-A378-7AA2E744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077F8-C421-4460-82AF-3CEB7F7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9D7EB4-C9B4-4B53-BE7C-B222647C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CBA63-D36E-4D55-8EB6-A7D4154E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04A76-DF62-4E4C-B2E9-900239E8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2A8E04-8B1D-4324-A746-385F562F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1444A3-78B4-47C7-9F00-E25E2A92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E93C9F-67A9-49D4-989F-88224F5E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4A142D-EF0A-4A2C-AEF6-EA0691FA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6978B3-2E60-436B-ACB6-2827928C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61BAE4-F78A-4F53-B0FB-00FF4F69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2FDD2E-5F08-4C06-9956-E657801B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E14984-A1FC-4311-95C0-0D9124B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572728-FB91-4F50-8B2B-3B1C85F5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8CFA0A-4198-4D61-B4AB-3ADD456D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FBC765-1B46-41C6-9689-C56640D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B75465-797D-4AAD-B040-1A487A2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2C3083-B558-41FA-A136-19D0C450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334992-AABB-406C-ADBB-37D0EC92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E98FDC-B0FD-4AAA-A5EE-DCE8DCC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6E7BED-1173-44F1-B024-1729342E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754C06-DFEB-48C0-8509-3D55EB01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FE6E2C-7307-4ED3-AF53-302B9C80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A3968B-95DC-440F-9A26-AF04265B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7DA19A-A315-484D-BECE-1B1873D4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6e55aa2444262"/>
          <a:srcRect xmlns:a="http://schemas.openxmlformats.org/drawingml/2006/main" l="26563" t="0" r="265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BA4D0E-A9F4-431C-AD3B-38093BE7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32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Regresión lineal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62C5EC-E64E-4B14-90D7-274F64C9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Relaciones, predicciones y supuestos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77D208-3333-4554-B9BE-A86233DB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José Ruiz-Tagle Maturana</a:t>
            </a:r>
          </a:p>
        </p:txBody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be8c11ae04549"/>
          <a:stretch xmlns:a="http://schemas.openxmlformats.org/drawingml/2006/main"/>
        </p:blipFill>
        <p:spPr>
          <a:xfrm xmlns:a="http://schemas.openxmlformats.org/drawingml/2006/main">
            <a:off x="6571151" y="5381625"/>
            <a:ext cx="3716948" cy="904875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8F2E38-BDA4-46AA-98EB-69D16F2B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4DBB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118175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E1B662B-C7AB-4CC0-A847-B48B67F5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43E1C-B240-4A52-B86A-4F43DA0E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03D95-FF4B-451B-8DD7-F400DA3C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25DB5-BC32-413F-BE34-8A5096BF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4447E-829F-4942-AC53-E1192E81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267EE-61EF-4E9C-8E7B-AE9B1C2B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8E7A4-E0DE-446D-BBB5-DB7648C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EE758-D4E0-4DC8-A4C6-5AD975C4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271E7-3DC8-4375-A282-B079370A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58B78-C55E-46FE-B2E9-36BDA19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6A88F-E362-4914-8F2F-7BF6C2F7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2B5E7-2004-4D29-B139-8FEA1F6C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B777B-47FB-4A0D-9235-B6CBBD56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34F35-4420-452A-9A08-5320D521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5D093-20F6-459B-B3FC-AEB51AA8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C89C9-2F74-45B3-A334-71749FD3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7109F-3240-4347-91B6-766130AC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6AE26-9278-4FF1-AA9A-E9386973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BFC50-94E9-4A2C-B267-1F568B16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41101-7F51-43A9-B5C5-33F67B6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65258-3F34-486C-9399-556A36CC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2EAF4-CE49-42B5-96B7-0F02638B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DCF26-BAE0-493D-9243-7D8C1E81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879CE-C07F-4B8F-9AD9-7C59AA7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FDA21-3FDA-449B-98FF-1944044B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B76E9-5FC5-44E9-8D25-8D95FC41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1ED837-0465-46E4-8E38-01625B79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C6A52-AC9D-4E7A-995A-BFEB21BA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48D4B5-FB62-47BD-8C31-7C4461B2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B6772E-C3D7-42F8-BA65-B6912BA7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2DC83B-2F41-4430-B93A-C8622939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A7164-3990-4035-9808-F18B081E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0877CF-E47A-4649-B16A-6AFD3BB4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4DED22-19E9-453E-9EB4-FE1F8E2B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4A0272-1E65-44BC-9D3D-F8B6F7B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84DA30-5EC2-4484-B4B4-18AD0876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5812D1-E0D2-4F51-92B0-95BE663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FD3BAF-DF6D-4652-8690-54B46F0A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67B56D-304A-45F3-9B9F-B8E3F033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BCABCB-635A-451E-A221-4E8F01CB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89B826-FA2C-4A8C-BDA7-DA983A15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EA9C41-F042-4325-BAE4-57B47300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7C78DB-4A8F-4BBC-BE64-FEAFC393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58BDC8-DB2F-4B7F-B018-AA7E1ADF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9F77FF-3B74-4D47-B8E9-00FF3111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F8C2A4-01B6-4D27-8F20-52FDCC77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42D029-C4EE-40A8-AF75-CE780C09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C8F88E-AC58-4C15-A92E-CBE30F63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FE2051-C697-4740-9464-FD3088E4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80F11D-D124-4179-8861-17B2586F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605816-BD5B-4F0F-AE5F-B5D28025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362BAD-4C2F-47D1-8E7D-26FA386C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37A632-BF8A-4AD5-ADAA-5D23D751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EFB626-AD22-466A-80BE-E5700F84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La pregunta de la regresión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C80337-F38C-401B-A8BC-6109A6AF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364817-7882-40A0-A076-71452AD8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¿Cómo cambia el valor esperado de Y cuando cambia X?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89F7FC-D169-41F0-BB55-A00D2E3D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81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E9D751-13BF-417D-93B0-1E7C026A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52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4CF063-CB82-4689-9484-968B056A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215F2D-3305-4A60-B921-78DF76CF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787D23-8A2E-42A2-B28D-5540A20F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7BB02E-8D81-4A1E-8954-8899153A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24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64671A-B277-489D-8CE2-C46BCFE8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5949B2-0747-4423-A13B-9587A021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361BD3-7DBB-463A-8004-2FB5B065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24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D86200-2774-482C-93EB-D5B9E1B7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E9D0DC7-94D0-4373-9950-9E7151B5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8C7810-1C18-409B-8C4C-09C9740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6B68CB-B0CD-41A8-A200-3CAA86C4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95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F008C7-20BA-42BD-9BBC-3ABED281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B206D09-4516-4603-AA05-F2ABE68A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38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C35C5CA-430C-410A-8CA7-A03AF52D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10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D4BAB7-69DB-470D-A3B2-26A56E44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67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A6C0DC3-FDAA-4899-8F8D-617BAA29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38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0B7FA0-EE4F-4AAF-BE63-DD3BD1DD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8667750" cy="2714625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2867E8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FE67E1-2287-406B-86EA-280C5657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ŷ = β₀ + β₁X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00EA5F8-1727-4BA5-BA80-DBBF80C5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626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26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La recta resume una tendencia promedio. Los puntos no tienen que caer exactamente sobre ella.</a:t>
            </a:r>
          </a:p>
        </p:txBody>
      </p:sp>
    </p:spTree>
    <p:extLst>
      <p:ext uri="{BB962C8B-B14F-4D97-AF65-F5344CB8AC3E}">
        <p14:creationId xmlns:p14="http://schemas.microsoft.com/office/powerpoint/2010/main" val="18053044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0EADC2-C865-4CFD-A7AD-74FD71B9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3D3B4-3715-43F5-9E9E-129F249A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2D47D-30DE-42B0-B386-7B6FAAD7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C6BB9-C6D6-4D58-A686-85F36E18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EF838-E392-4828-BA81-2D4E47CC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79982-0A32-4B12-A103-7CABD91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1C800-4B6A-4F1B-8E03-5B3705AB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21DE1-7820-464E-A793-DF7632BD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DCF21-3F7B-4693-B5AD-7618C61D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DD900-EFC6-4608-BB95-0E7EFE84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F7C83-290D-4BBA-B709-D05F8728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16B03-1B4B-43DC-9D91-B825890F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4B472-35B6-4116-A105-8363685B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7658E-8A92-4478-9CBC-7F1878D9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4D125-E355-4C67-9287-0FE3DF8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02CED-2960-4314-85B2-27D8932A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951D0-190D-489C-B30E-BF3F3C61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15E95-C6B1-43E9-96DC-19A55322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FA7CB3-59D9-4AA9-93CC-72BE7CA3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A30D2-A687-4A77-9C2E-D9DB6A31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B54B2-2C7A-49CE-A5DF-72EAA676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EE195A-31DE-4F4B-B511-41B3320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C243F-84C5-47A6-B03A-A099AEA0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BF64C2-3749-46B5-A1E2-649E3208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BADE59-DCBB-4798-9FD8-7F523050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C77FF4-90E7-4C3B-ACA0-9D2D23D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8318A-BD99-4AB0-AC1E-02A0F1D4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0A3BDB-1BCD-4188-B428-1616E14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6BD92-4964-4BC0-8159-2BFA68FF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EB8C39-DFEC-4E0A-85A7-71364151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19E20A-5532-4D1B-A685-F131B0E3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B29D1A-2810-45FF-B366-C9EFAB8C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4EBBFA-8CC8-4537-8918-6F36AE1C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D5BC48-4364-4AC8-9C70-0C3DF95A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76B214-2FB9-4CA0-B3E6-321F642A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5F3C1B-3CE9-493E-B27B-D2C69516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ECB1E1-3208-445C-B151-A7751882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3D03EA-764F-459F-8C42-7AF36434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4CD654-EBA1-46E1-90D6-BCC558E9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AFF342-1D80-4570-B0E4-5C9E112F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D0A8E1-E480-4577-AD7C-1E4DD2C2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99E82A-C856-479A-84B4-3057531A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6CEA63-3118-4E69-B536-12B4AD78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FF56E1-800B-44DE-A296-9991D775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DE2D80-727E-4A01-85D9-1CF5EEEC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BB9F4A-7B9D-4904-BA47-79C49EA3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2F1C6F-36A0-48B4-AB3F-1AB338B5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FE571B-8C75-4D98-BCBF-A714C60E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0D29F0-395D-4405-A1EE-2741BB2A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CBC977-DABB-4C60-8DD8-B56922DC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1C4D6C-8A41-4FC5-BECA-76926F15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7104AF-3CE2-4637-BA32-4BC27F29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A0A3EC-8D40-4A00-A29A-AF75342C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D0BC83-6663-4129-B90C-A16421A2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Intercepto, pendiente y residuo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FC5149-6455-4101-94C8-213853D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553078-32A5-411F-8B33-43694FD2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52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β₀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7E94E2-22CD-4E97-A6F0-4C785261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Valor esperado de Y cuando X = 0. Su utilidad depende de que cero sea una referencia razonable.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AE90DA-F876-40A4-B00B-73C622E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52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β₁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C47FAD-BF0E-4F08-922D-9E7B3811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Cambio esperado en Y asociado a una unidad adicional de X.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E7302F9-F50A-4FC5-9E61-F36FCD23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152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eᵢ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F415A1-44C1-402F-A0FD-B61B47B4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Diferencia entre el valor observado y el valor ajustado: eᵢ = yᵢ − ŷᵢ.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FC32C0-4AB9-4868-9A31-8BD70020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Los mínimos cuadrados eligen la recta que minimiza la suma de residuos al cuadrado.</a:t>
            </a:r>
          </a:p>
        </p:txBody>
      </p:sp>
    </p:spTree>
    <p:extLst>
      <p:ext uri="{BB962C8B-B14F-4D97-AF65-F5344CB8AC3E}">
        <p14:creationId xmlns:p14="http://schemas.microsoft.com/office/powerpoint/2010/main" val="126114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F3667C-C0E3-4C62-81D6-C7215C31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3F8F6-5C04-4314-A994-260AE5AC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32A27-AE00-45B5-8705-E3A7FD7D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DD410-B989-4068-8942-97582103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87D50-5F90-4BA9-BFE9-21C277C0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4659A-1031-45C0-9099-430B9F79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4C550-1AD0-4F32-AEE9-AC51B1D0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4E6E5-54E5-4134-90E0-C389632E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119F0-BCA6-4E96-A027-6CC291DB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08026-95A9-4468-9A2C-207208EA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2F6A3-8172-4CA2-99CF-15A7140F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CAD9C-4C9F-4967-AFCA-676CF406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F9F4A-9E70-499A-9EE3-148A8ED3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E8FD7-526B-4BC7-BE34-5321F6AB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A71C3-12E4-4987-9B6A-34D06D85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F2BD5-FF89-4252-A06F-4BD66397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22374-52A7-4EA2-BA93-812BE979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E8E34-EA82-4DD8-BEBB-EFA0DC06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94A88-DBBC-4F0E-A7B2-42BA96E5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711A2-D1A0-468E-B395-A3D61A25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F4E74B-4C57-4365-8955-9CA0E93E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C1A04-FC52-4ADD-A5D6-34F811FD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21D78D-0F4D-4D10-A7E1-B927EE97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EE222-53D0-4ECC-A7A0-2E5C3A20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E9A368-FE31-4C4B-AECA-05124EA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5488E-423A-48C3-9A90-24DBED66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78CB7-6B67-4682-8108-580F673F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3AE1B-12D0-4758-A274-9D2C097A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848D0-C4CF-4850-945E-61FE0F2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3B41B3-9214-4E17-A8A7-2FEAE4EB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B237A6-9F5E-4421-9CCD-857124F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9FDBA3-B399-40B1-AF0B-3A26D357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546D7C-22E1-4031-B5F2-F9B0F0F9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CD3D39-0084-43D2-80A4-58E000F1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10BCAA-0D6B-4882-8C88-1E3E1308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96C2A-BDDA-4064-ABDE-BEF7195B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88B35F-7F23-40D6-8F59-8FCF9D4A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83C974-88FA-46CF-BEDC-CD7DEE9D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4D287A-7949-4BE7-9C5A-884EF9F1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426537-2548-49C0-82D8-D260FA16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CB69FF-7715-4958-9A13-42B5648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9D198A-5628-428A-BF6F-FB4D370E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744941-BE74-4A0A-88F3-BCA2F8C1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E9E718-310F-4FFA-AE00-1D2E6F54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E3404E-5A20-4D3E-87FF-9764EDA6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0C5CA9-09EE-44EF-ABD8-8465154C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6E68FF-D4AE-4BBC-9DC8-06059C15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2422DA-AFF5-47BA-82D3-3557CA6A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9799BC-72B0-4406-82A9-97F6B032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EF9C34-5528-49FD-9492-53709D26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258EEC-BCB2-4326-8AB9-202A0626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1027B1-85D7-4047-A845-B0F93C31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5B3D35-FF26-4E4D-A60E-63465622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B755F8-8DAE-4086-A1F6-01BD2EAE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Regresión múltiple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F6E7ED-4C50-428C-89AB-8468138E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0FA1F1-0EF2-4705-B51A-B0224262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7239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Y = β₀ + β₁X₁ + β₂X₂ + error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B17432-1597-4043-A589-263FECE8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6225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β₁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7EF7A0-EC4C-43F5-9872-29475D2E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622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Cambio esperado en Y por una unidad de X₁, manteniendo constante X₂.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88250B-6368-4F29-8C1A-19B0427D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D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La frase “manteniendo constante” describe una comparación dentro del modelo. No convierte automáticamente la asociación en causalidad.</a:t>
            </a:r>
          </a:p>
        </p:txBody>
      </p:sp>
    </p:spTree>
    <p:extLst>
      <p:ext uri="{BB962C8B-B14F-4D97-AF65-F5344CB8AC3E}">
        <p14:creationId xmlns:p14="http://schemas.microsoft.com/office/powerpoint/2010/main" val="1140712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8E352C-B308-4C78-A9E4-7AA4748F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899AB-A577-4844-B9DF-FDA97FC4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09949-BA80-4460-ADF5-1D0E2B1B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15E8B-6D2C-4503-9868-733DF931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5D392-9CBA-4A24-8F3F-632D1A5F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D669B-3C27-4E7F-857E-29C10050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6B57F-CEF1-40E5-97C5-88340D76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2C2B8-2392-46A7-84E0-C435A7A9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9717A-8EF8-4AAF-A3DB-B480590B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44D4B-0BD1-4164-90C0-87956C3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8E023-D0CE-4BFA-A6A7-6271DB9E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D9E5B-00AE-453C-A110-576909E5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3ABBD-E25E-42DE-B43C-1FDEEE1D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8E53C1-228B-43F7-97FF-82D5A87C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EDDE5-280C-4A37-8E8E-71D0839D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0FC1C8-1F73-487C-9116-A0BD2D21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C5FEB-AEC4-40A2-8669-98C49F12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08363-2306-4606-92AE-F356AAE9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540FF-9430-4718-9ADA-8F8C0CCC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EDCAC-712B-45B5-8286-39CBBB86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105578-0C63-47AE-BD28-5463C948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A011B-9DD7-4149-B73E-FBBF8472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6C2FA-4BDA-4108-9021-57776F39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9F680C-F016-4894-BD96-D7212095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50591-5620-41D6-A560-C33F6616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AE46FC-E0D9-49C0-91BD-D75229B7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FC8EB9-23E8-4CCD-AF23-A2E4B2D1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E42D1-4087-42BC-957E-D26FC25D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F884A-1719-44BE-BD71-F8C9FFF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D7F3E-E4C9-4D6D-834C-13FA2E07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E8C61-0053-4C6E-B805-0003DC6E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2B2F30-383B-443A-8833-9BEF4305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A9E986-5B5E-4687-86E5-14A51FB1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34A537-64B8-4E97-B9C1-597B562B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4C592A-A815-4FF7-BAD4-D54C982E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4269F-48F6-41BA-896A-919DF191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2A294F-55AF-4491-AEC4-297CEA25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649FDB-63CC-4F65-B518-0A4807E7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A1BA52-4BD9-4EC9-931A-BCCFFDFD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3E6B06-7C1C-4A70-879A-AAD4631A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DD4B83-A15B-4A5E-B44E-AD2F9306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710BE9-E809-4255-9D89-4C9495F3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093886-3BEE-423B-BF2E-D1BA0AF0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36D839-82A3-4DE3-A1D0-62D400D8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D14339-72AE-45FC-B160-D17D27A2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4EF409-D869-4899-85FB-32D0B500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A56A4F-6758-4E29-8E47-F0FA5B44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D3DC93-64B7-4415-A857-F4EA9A6B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6F684F-C45C-4A54-BE62-44BC006B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C89692-9DF8-4E02-8205-5CA493D7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FE5E4B-B07D-4EBB-9717-D3FE90B8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1A804C-A32E-41EE-B810-FFEE2D36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686948-5451-4864-A31D-A15D36C0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0DF563-4BAD-4CF6-AA9C-339FB767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Estimación e incertidumbre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2F4801-8432-4AC9-93CA-43843D7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76C84B-FC2B-4245-93FB-23949CEA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Estimación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1DEC64-3827-4004-9777-41915AC7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D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β̂ = −1,8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DD70CC-C5E2-4CED-9954-1C55C357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240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Intervalo de confianza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D44C2D-35E4-4D15-98C6-25250FBC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IC 95%</a:t>
            </a:r>
          </a:p>
          <a:p xmlns:a="http://schemas.openxmlformats.org/drawingml/2006/main">
            <a:pPr algn="ctr">
              <a:defRPr sz="2400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[−3,0; −0,6]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8D61C6-82BE-44FE-BC4C-C0C1EF4D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6EDDE7-95AC-4BA7-9974-3A6BDF48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43125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p = 0,004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A6F9B8-79A4-4E42-9528-3A6981B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El coeficiente entrega dirección y magnitud. El intervalo muestra precisión. El valor p resume evidencia contra β = 0.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AAC2FD-35F7-4406-BDAE-9DC87FE4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A2C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A2C2C"/>
                </a:solidFill>
                <a:latin typeface="Aptos"/>
                <a:ea typeface="Aptos"/>
                <a:cs typeface="Aptos"/>
              </a:rPr>
              <a:t>La relevancia sustantiva requiere interpretar la escala y el contexto.</a:t>
            </a:r>
          </a:p>
        </p:txBody>
      </p:sp>
    </p:spTree>
    <p:extLst>
      <p:ext uri="{BB962C8B-B14F-4D97-AF65-F5344CB8AC3E}">
        <p14:creationId xmlns:p14="http://schemas.microsoft.com/office/powerpoint/2010/main" val="256962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A7DF52-0A0B-4921-9641-6C9A0D8E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BDA93-C1DB-40E7-9812-0ADC4135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9CF43-35E1-4FAA-A7C2-4459812B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F589D-BADB-4B14-8070-9C3A9D0C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8325B-28C5-4FC5-BE26-26EC0D9F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962D0-6069-443E-9275-9C1C7E57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95FB2-7779-4E06-8564-A4C2A130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E2A11-2CBE-4259-839C-FE4B302F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E1393-6D63-4E0E-8698-18E3B941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A5BF4-94BE-4326-AFB1-0DB2B6B2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0A75A-8E36-4EBA-8E30-DFDB870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D1991-1164-46EA-874E-CDB98FA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53F93-DCCD-4AF8-B20F-B3370980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BB6D8-590C-4912-A7EE-43963BA0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09947-C647-4BD9-A32E-D3054B8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1B7BB-7B3B-4059-9DC5-83D4A557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042ED-A7D7-4ACD-889E-FCB70568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62CDF-777E-4D7F-AE3D-68ADD490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1989A-3995-4286-A3AE-E10F373C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24749-D198-4F7E-877B-E4F5BB68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6ABAA-BBA4-4A1B-BEC5-25FB134F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A62D2-92E5-4216-A469-7F5A1629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385B8-088D-4863-89D3-BC4154BB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B4FB0-3486-4FB8-99B8-7513CEFC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971C3-F55B-4555-89C9-F32D82A0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F518F-D483-4E4B-B588-F82228A6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97BFCB-20AB-4EED-A60E-406F2D71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FDB0B1-4E0C-4B35-8F08-0B3EB386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8F2F99-0FC0-46F6-B5CC-67BA5F2D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54001-21CD-4E70-B4BF-D2A7E052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A081F-964B-4F49-9BC2-FF439740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E160B3-8027-4848-A699-468C5AFD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721B6-F3E8-43AB-A46F-4109CE08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B804F-CD85-4378-B623-C6A4407A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8793B4-EBAD-44AE-A3BE-1866CF0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F3D367-9FB9-42C4-B605-996D461E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797F65-3B57-4BD0-A82B-961C6FA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0935A3-AA77-4B7A-86C1-73263C1D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4AC694-2971-4018-8147-41A65BE8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C4ADC1-F5A2-4739-B2AE-1AFD8DB3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21C03A-738E-4F6B-92A5-EFEDDDB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211BF9-EA39-4190-BBE8-C80C8FAB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D065B-891C-4914-91BE-CC433E48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BDD5C8-B28C-4C41-867F-C70D21AB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937BCA-ACDC-4739-BFB4-FFA1D45C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5A66AB-AB36-4DDC-8D8E-7BAB4F04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D2E1C7-F231-4EF2-8FF7-A1890719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978159-2070-43EE-94B6-17BBBF0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549CEF-30B2-491F-8BAC-8D800078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E828EA-473D-48CD-A74B-42380797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D365B5-E1DC-49A9-A84B-23FAE5A4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4E012BB-FE07-4E00-8AE8-2D51203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DCFA57-29FB-4CE9-BB1F-DFFDEDA0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99B5D8-ED8B-4BB9-BBC3-851D65DF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Supuestos para estimar e inferir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754733-6AD3-471A-BBBA-003A1A8A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E23292-EFE0-4073-9C01-069457CA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858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005CDC-80DD-41FF-922E-7C07129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858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Linealidad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8A7142-1975-4161-B2C1-C0C0080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media de Y cambia de acuerdo con la forma especificada.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388E08-8301-4A43-BEAB-289F6BE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60495C-8D4D-46AA-BEA5-6B0A80B6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621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Independencia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593EDA-9A3D-4E3D-9685-FE29142D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21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Los errores no presentan dependencia no modelada.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369E0B-CBFD-4224-9EA0-5FDE0A5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38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2864072-DFFB-4B55-BA58-BEC25B89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384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Varianza constante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DD2F265-5398-433D-9974-B0E9A48B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dispersión de los errores permanece estable.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C9386D-F287-4BBD-92A0-ACC8008E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147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2C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0CFAEA-5563-4F3F-B84C-64E76363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147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Normalidad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2AB7D77-8755-4CBE-987F-AD4C3215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147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Apoya la inferencia exacta en muestras pequeñas.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18996E-89F7-4891-A88C-6EEED012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FF15AF-C119-4A80-97CE-F3743529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Sin colinealidad extrema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BA3ECB7-B872-462F-8DA3-0FE606BD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9107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Las variables aportan información distinguible.</a:t>
            </a:r>
          </a:p>
        </p:txBody>
      </p:sp>
    </p:spTree>
    <p:extLst>
      <p:ext uri="{BB962C8B-B14F-4D97-AF65-F5344CB8AC3E}">
        <p14:creationId xmlns:p14="http://schemas.microsoft.com/office/powerpoint/2010/main" val="18046523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BD771B9-B503-4708-B491-A68BC850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29AB4-DB27-4AB8-9BD2-90B03667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47772-29AA-44D0-8C3C-11C4EC63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D3000-90A2-4383-A11C-553DD0D4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AF700-8FAE-4017-90DD-74673365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68B42-6F9A-4C67-A3C4-F21ADD4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8CD48-5B33-4D05-B675-5DA64AD1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1BE40-8101-4242-9793-682F79D6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C8126-FA95-4DD0-87CA-AC9FBC8C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D70DE-7AD5-4DF2-BD23-3CBC286B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40B3E-1B32-46B6-8AD7-771827F7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5BE13-85CA-4F26-93EB-1D6DB3B8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0F0D2E-8767-45BF-BF4E-FA5412C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DB1A1-CF68-4A8F-84CA-EDEFDCF1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B4153-16EA-406C-8E14-15B00FC0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42981-F0A4-4E5B-B3B8-43808171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44986-8FDE-483D-B24A-1615AD16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DC3AC-6951-4A5D-91A8-BF5914A6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9B00B-4190-4D62-AD01-A8038B33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B566B-8C5F-4888-9EEF-E6483029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7D4A8-2F7B-405A-84E3-DBA8398D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45A63-1257-4A1C-9235-C0DD2BE0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8C7A3-F5F0-44A5-9848-FD5A14DE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A7AD93-FFD9-40D0-98F1-B5D2C830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37F5BE-F6FF-46E3-ADDF-D53AFF56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4097C-9637-43D5-932D-77AB75C4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030320-2359-4472-B89A-F3E98469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FA8112-AC6C-4552-BAB3-01D5B71E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93B2E1-73E1-49B9-BF3D-E8922F05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BA86FA-6713-4FD4-8398-D2DC027F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D4F1EB-F370-493A-8A7D-04688B4F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2CA641-EBC1-48DF-82DE-C6646E5D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84B04F-3EB5-45E0-AB1B-AF54A28E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49A12F-C6F9-4982-B821-7A56F62C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42A119-A0F4-4936-B761-07C0959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1FFD04-77BB-46A6-A8CE-D55F0C10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F1C692-B04A-4C48-8DAA-9F99A6E5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09A5E-DD5E-4D22-AF66-2307635B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AD4FD3-A2B5-43BC-892A-CC044F48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2D4255-2433-46C2-ACCF-0D5173C0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8B01C6-85C1-4DD7-959B-3DDAFEC7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A1CF0B-3338-409D-B51B-E9486818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F78961-C1BB-44E7-8BAA-C1ECF2E3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DF785C-9DD1-47B3-8687-97F5188F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975BEE-9DB2-4FF0-B490-6A6C5807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23E061-5C88-414C-94AB-46ED1F70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B022FB-3722-4892-B69F-146AAD01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B7F433-35CD-4C4C-A107-783BDA08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27A07F-2548-4637-B621-DD36CE96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F4E64C-9B26-4723-A377-068AE640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4CF5A0-668B-4E58-8479-A6562F65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050254-A383-4557-81AD-DA510F1A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9C0254-65A3-4553-84CE-71D1EEED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14082F-66F8-49BE-9280-EBEA2686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Diagnósticos del modelo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D6E5B3-8A01-4A31-A9FA-DBAA6BC6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3D3AC0-8EC8-4C05-8483-35FB515D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867E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867E8"/>
                </a:solidFill>
                <a:latin typeface="Aptos"/>
                <a:ea typeface="Aptos"/>
                <a:cs typeface="Aptos"/>
              </a:rPr>
              <a:t>Residuos y ajustados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79E186A-F3EF-46A0-8FDF-14AF2AD6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667085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DADAF4-CC82-4737-9504-57320B12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6F6048-B2A1-454A-BA00-B9D7D924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B3D713-79FB-48CF-A6AF-1733C6A4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242EEF-9A72-45AC-AE5B-301B199E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0928FE-DD18-476E-9CF4-AC78B9C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BA4EBF-C01F-49F8-A593-7249FBE6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14ECEE4-1EE5-4420-A5A0-321EBD83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B73905B-1C5A-4BD7-888E-5A1488CB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227719-CC81-4639-BF72-B819E77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256E14-DFB0-4AEA-9802-BB229A74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DE8D2F-05D1-4D24-8849-748888B1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688878-E073-4072-BC26-B142DE42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72079B-DEEA-405D-9A01-DBEFC180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D3E9CA-0C90-4A27-B11E-5FC94E08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2627908-BF2D-42B9-AB3C-0B48E63D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95BE31C-7B63-4FB9-A9DF-74B6891B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9525">
            <a:solidFill>
              <a:srgbClr val="2867E8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F94484-5D5E-499F-A12E-86389349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Q-Q de residuos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DC29A1-AA8D-4440-A2D0-CD59189E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2B5A7E-06BE-4B30-8FC0-8B2CACD0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11F2C06-85D7-4AF8-BABE-351EBBA9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D1FD08-4E2A-4689-8B42-74EEC179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D211B01-E190-49CB-94A8-54494924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BB49EA0-7D00-4D12-8AA9-FC6EE71C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F885D3-F220-438C-B5B6-91BE5727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73F99A-B639-4B7E-80B9-6AE13812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E5A111-6BC3-43BF-BB9D-50C87A65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CDA57B9-7910-4491-8FEF-1DE723F1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AFB0023-F95F-48D5-95B7-F27DC82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4CC75CB-ADA9-4A1F-BB6B-8EA00DBE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F32438-12A7-4891-959C-863118CF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9525">
            <a:solidFill>
              <a:srgbClr val="D94DBB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1EAFEAB-F9C5-4519-8B36-4671F5A7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A07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078"/>
                </a:solidFill>
                <a:latin typeface="Aptos"/>
                <a:ea typeface="Aptos"/>
                <a:cs typeface="Aptos"/>
              </a:rPr>
              <a:t>Influencia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17FEC99-DB5A-4294-A8B5-D135C1A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0" cy="2381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99459AF-F9F8-404B-8F8F-94328C09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86175"/>
            <a:ext cx="0" cy="4095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77C0F2E-0D4D-48FA-AF2B-1496A3D2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14725"/>
            <a:ext cx="0" cy="5810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9A6EB7A-2F0B-4B71-8ED6-5317D021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43275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7F7B478-E2F8-40B7-B986-CD381EBC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57625"/>
            <a:ext cx="0" cy="2381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142B78-42BC-4E92-AE24-3F5B7A81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86175"/>
            <a:ext cx="0" cy="4095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49FA75A-1FF7-41BE-ADE6-35AB2084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14725"/>
            <a:ext cx="0" cy="5810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97DDB86-0BB7-4B16-9299-6CFB4653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43275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5DA649-E5C8-4C22-83F0-54F86E97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57625"/>
            <a:ext cx="0" cy="2381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3F98DAD-5C02-47A1-9E33-CB64568C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86175"/>
            <a:ext cx="0" cy="4095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92DC87B-ACBE-4898-9657-67B2F068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0" cy="16192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9072B8-2A6A-455D-A7D4-3C87ECEF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43275"/>
            <a:ext cx="0" cy="7524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A33947D-2147-4574-B838-84874897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857625"/>
            <a:ext cx="0" cy="2381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A078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52EA413-4C03-4288-A604-F53BE5D8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Buscamos patrones sistemáticos, colas alejadas y observaciones que cambien excesivamente el ajuste.</a:t>
            </a:r>
          </a:p>
        </p:txBody>
      </p:sp>
    </p:spTree>
    <p:extLst>
      <p:ext uri="{BB962C8B-B14F-4D97-AF65-F5344CB8AC3E}">
        <p14:creationId xmlns:p14="http://schemas.microsoft.com/office/powerpoint/2010/main" val="754004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7C810DB-2581-45D8-A8CD-27B85482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E55AE-1D20-4FD8-AB24-0DEDEA19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67A88-D093-4416-B625-63FFA266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76640-B729-4C1D-9FC6-FE41EB83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115AE-EF46-4840-92D0-76FE88A0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BEEFD-F1A7-467E-BFF6-C2000503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86308-D5FD-4D51-A302-A689D27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CCE47-3BA5-46FD-8BD4-4B3934A7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77788-6609-4B7E-927C-E26CDCF3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DFE14-B6B1-4DD6-9D1F-F2512F24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87DE0-5FD4-40E7-96F7-38F886D0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79C19-8EFB-43C3-8B9C-93A5AF57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0657E-6629-4C38-9D61-52C50700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20F11-AA48-4C9E-86FA-A7BF0153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A0030-50F0-487F-B1FD-59A6E99D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59CA5-138B-4C24-8D14-F76A8EEE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EDBB5-E977-4057-914B-1A91D5A6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4991B-DE79-4E1C-A5A5-00C942B3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BADCD-5D34-45BC-9911-99EA37C9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A17C2-65E6-4515-A75E-204CA2BD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FF9CA-64D6-44FD-9812-443C875C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61B4-E08A-4924-8C9D-FA769BF0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0E6D98-ADDA-4D4D-BADF-EA2C589A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8638AD-8CEC-4310-ACC9-23C434D6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27211F-92D1-4F0D-9429-76ED0E26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0A334-A76D-4D3D-ACA3-48AFB1E6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91B95F-D7D7-461C-A04B-D81D7CD6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924651-6029-446C-886D-5602B3F3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C89A7A-C910-458C-85FB-4EEDD9F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641C6E-A0AE-46B4-B4C8-83CBB987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8F6E39-FEAD-4FD4-99A9-AAADB801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57E8CC-243E-416D-A066-27BF26D5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5BD6B-242E-4EF7-8002-19E9BAB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0C94C6-3573-4964-9E8E-91FA4490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901F94-A1EF-4703-B8F3-B26E4265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106D5F-0C13-4B8C-AC40-B3079A14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A5F420-92CD-4F04-BAE6-0498C5B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88051F-5C58-4F5E-8D0D-DE5C92EA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8ECEF2-A071-494B-B3D3-6F8EAB5B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0197D7-DD4B-429D-83A9-E3900C87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1CDBE8-03C4-4571-8217-52DE7B88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8D4701-1555-4EC9-AA4D-BE636548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F12DE-91EB-40F7-B5B9-48429360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FC014D-25CF-4390-B68D-23D7F21D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DA9439-7F18-47B4-9A5D-934B0572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CF038B-4333-4E97-99A3-2C4FABCA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531DF6-AD8E-4B31-88EF-AF28014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9ED590-660E-49C9-B6FA-9DA5DA1E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B0E650-FAAE-40B1-BBAC-D6688E5F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825DA2-DF99-4219-A521-10D946D4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A94580-66F6-4285-8364-0B46C9DB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82D3CE9-CFC0-4D38-A699-82DDED6B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0E3BEC3-FBAA-4B4C-B9D4-7ECDF4E7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9388C1-B8AD-4897-BE87-633E960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Flujo de trabajo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BBFC74-516C-4C3E-A22C-5503D48E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C034F0-44B6-4E8F-98F5-D86E0489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048E99-E015-4C32-84EB-499D5922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57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Pregunta y variables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D751AE-C950-4EC5-AF5C-46C038A8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8BDC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BE4D51-DDE7-4760-8B92-FB837DF5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52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7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F73B3AC-5A52-422B-9B77-C75D56FD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Gráfico y descriptivos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774802-2570-4AE0-8B49-7CAE323A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86000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8BDC6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0A2A9F-607E-4A3D-BC21-B5ABE8F6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52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0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986E6B3-9CF7-4D18-9356-1F218E97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Modelo e interpretación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FA4DD0-1F12-4A9C-9AFA-BDDE0AF6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8BDC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91C062-AB48-46BB-AE88-998F62A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52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2C2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CBC6DF-5676-4FDA-BFAE-878EC469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Diagnósticos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A06D9E-1667-476C-94B6-8FB1B58B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B8BDC6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8E461B-124E-4C49-A55F-801C9FBD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52625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3661F2-8119-4967-9834-B42132D9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33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Ajuste y reporte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80A612-7A25-4969-A21D-F53F0D7A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El modelo final debe responder la pregunta, representar adecuadamente los datos y comunicar su incertidumbre.</a:t>
            </a:r>
          </a:p>
        </p:txBody>
      </p:sp>
    </p:spTree>
    <p:extLst>
      <p:ext uri="{BB962C8B-B14F-4D97-AF65-F5344CB8AC3E}">
        <p14:creationId xmlns:p14="http://schemas.microsoft.com/office/powerpoint/2010/main" val="366494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2026-09-28T15:48:00.4930000Z</dcterms:created>
  <dcterms:modified xsi:type="dcterms:W3CDTF">2026-09-28T15:48:00.4930000Z</dcterms:modified>
</coreProperties>
</file>