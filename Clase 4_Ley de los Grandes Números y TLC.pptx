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7345903504d00" /><Relationship Type="http://schemas.openxmlformats.org/officeDocument/2006/relationships/extended-properties" Target="/docProps/app.xml" Id="Rd27deb90d78344fa" /><Relationship Type="http://schemas.openxmlformats.org/officeDocument/2006/relationships/officeDocument" Target="/ppt/presentation.xml" Id="R1797baedca5c4b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0085659bd34757"/>
  </p:sldMasterIdLst>
  <p:notesMasterIdLst>
    <p:notesMasterId xmlns:r="http://schemas.openxmlformats.org/officeDocument/2006/relationships" r:id="Rf34a90a612bf4f25"/>
  </p:notesMasterIdLst>
  <p:sldIdLst>
    <p:sldId xmlns:r="http://schemas.openxmlformats.org/officeDocument/2006/relationships" id="256" r:id="Rd19da6f3154948b8"/>
    <p:sldId xmlns:r="http://schemas.openxmlformats.org/officeDocument/2006/relationships" id="257" r:id="R605851d64d2b4ba1"/>
    <p:sldId xmlns:r="http://schemas.openxmlformats.org/officeDocument/2006/relationships" id="258" r:id="Rcb31f65af2eb48c3"/>
    <p:sldId xmlns:r="http://schemas.openxmlformats.org/officeDocument/2006/relationships" id="259" r:id="R0722407c8415495a"/>
    <p:sldId xmlns:r="http://schemas.openxmlformats.org/officeDocument/2006/relationships" id="260" r:id="Ree758ad46880481b"/>
    <p:sldId xmlns:r="http://schemas.openxmlformats.org/officeDocument/2006/relationships" id="261" r:id="R2426f81bd13743fe"/>
    <p:sldId xmlns:r="http://schemas.openxmlformats.org/officeDocument/2006/relationships" id="262" r:id="R6e5830842aa24c76"/>
    <p:sldId xmlns:r="http://schemas.openxmlformats.org/officeDocument/2006/relationships" id="263" r:id="R9d869dd8dfa546f9"/>
    <p:sldId xmlns:r="http://schemas.openxmlformats.org/officeDocument/2006/relationships" id="264" r:id="R8580c2389aef4738"/>
    <p:sldId xmlns:r="http://schemas.openxmlformats.org/officeDocument/2006/relationships" id="265" r:id="Ra88f6ee7575a49e9"/>
    <p:sldId xmlns:r="http://schemas.openxmlformats.org/officeDocument/2006/relationships" id="266" r:id="R6aa110ebf0614a50"/>
    <p:sldId xmlns:r="http://schemas.openxmlformats.org/officeDocument/2006/relationships" id="267" r:id="R327c0aad186e4f4f"/>
    <p:sldId xmlns:r="http://schemas.openxmlformats.org/officeDocument/2006/relationships" id="268" r:id="R1967dc0abdd64b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7d0f3a45c54a13" /><Relationship Type="http://schemas.openxmlformats.org/officeDocument/2006/relationships/slideMaster" Target="/ppt/slideMasters/slideMaster1.xml" Id="R240085659bd34757" /><Relationship Type="http://schemas.openxmlformats.org/officeDocument/2006/relationships/notesMaster" Target="/ppt/notesMasters/notesMaster1.xml" Id="Rf34a90a612bf4f25" /><Relationship Type="http://schemas.openxmlformats.org/officeDocument/2006/relationships/presProps" Target="/ppt/presProps.xml" Id="R94206c8f63774227" /><Relationship Type="http://schemas.openxmlformats.org/officeDocument/2006/relationships/tableStyles" Target="/ppt/tableStyles.xml" Id="R41f351ed425340d6" /><Relationship Type="http://schemas.openxmlformats.org/officeDocument/2006/relationships/slide" Target="/ppt/slides/slide1.xml" Id="Rd19da6f3154948b8" /><Relationship Type="http://schemas.openxmlformats.org/officeDocument/2006/relationships/slide" Target="/ppt/slides/slide2.xml" Id="R605851d64d2b4ba1" /><Relationship Type="http://schemas.openxmlformats.org/officeDocument/2006/relationships/slide" Target="/ppt/slides/slide3.xml" Id="Rcb31f65af2eb48c3" /><Relationship Type="http://schemas.openxmlformats.org/officeDocument/2006/relationships/slide" Target="/ppt/slides/slide4.xml" Id="R0722407c8415495a" /><Relationship Type="http://schemas.openxmlformats.org/officeDocument/2006/relationships/slide" Target="/ppt/slides/slide5.xml" Id="Ree758ad46880481b" /><Relationship Type="http://schemas.openxmlformats.org/officeDocument/2006/relationships/slide" Target="/ppt/slides/slide6.xml" Id="R2426f81bd13743fe" /><Relationship Type="http://schemas.openxmlformats.org/officeDocument/2006/relationships/slide" Target="/ppt/slides/slide7.xml" Id="R6e5830842aa24c76" /><Relationship Type="http://schemas.openxmlformats.org/officeDocument/2006/relationships/slide" Target="/ppt/slides/slide8.xml" Id="R9d869dd8dfa546f9" /><Relationship Type="http://schemas.openxmlformats.org/officeDocument/2006/relationships/slide" Target="/ppt/slides/slide9.xml" Id="R8580c2389aef4738" /><Relationship Type="http://schemas.openxmlformats.org/officeDocument/2006/relationships/slide" Target="/ppt/slides/slide10.xml" Id="Ra88f6ee7575a49e9" /><Relationship Type="http://schemas.openxmlformats.org/officeDocument/2006/relationships/slide" Target="/ppt/slides/slide11.xml" Id="R6aa110ebf0614a50" /><Relationship Type="http://schemas.openxmlformats.org/officeDocument/2006/relationships/slide" Target="/ppt/slides/slide12.xml" Id="R327c0aad186e4f4f" /><Relationship Type="http://schemas.openxmlformats.org/officeDocument/2006/relationships/slide" Target="/ppt/slides/slide13.xml" Id="R1967dc0abdd64b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69770fbd3341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0cc14d0f1049a6" /><Relationship Type="http://schemas.openxmlformats.org/officeDocument/2006/relationships/notesMaster" Target="/ppt/notesMasters/notesMaster1.xml" Id="Rc3121aa3f06249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8100d2b3546ca" /><Relationship Type="http://schemas.openxmlformats.org/officeDocument/2006/relationships/notesMaster" Target="/ppt/notesMasters/notesMaster1.xml" Id="R20ed567caccf47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0f1c828f724dba" /><Relationship Type="http://schemas.openxmlformats.org/officeDocument/2006/relationships/notesMaster" Target="/ppt/notesMasters/notesMaster1.xml" Id="Ra94445e9299a44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66100c33994a71" /><Relationship Type="http://schemas.openxmlformats.org/officeDocument/2006/relationships/notesMaster" Target="/ppt/notesMasters/notesMaster1.xml" Id="Re4a23e78216b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f8205027e54a2a" /><Relationship Type="http://schemas.openxmlformats.org/officeDocument/2006/relationships/notesMaster" Target="/ppt/notesMasters/notesMaster1.xml" Id="R6005707c71a946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1257f6a3704303" /><Relationship Type="http://schemas.openxmlformats.org/officeDocument/2006/relationships/notesMaster" Target="/ppt/notesMasters/notesMaster1.xml" Id="R9bd35d5551b048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2a67e9c04045f8" /><Relationship Type="http://schemas.openxmlformats.org/officeDocument/2006/relationships/notesMaster" Target="/ppt/notesMasters/notesMaster1.xml" Id="R316453dffbbb41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db19e34a69464d" /><Relationship Type="http://schemas.openxmlformats.org/officeDocument/2006/relationships/notesMaster" Target="/ppt/notesMasters/notesMaster1.xml" Id="R3bec752fa63a4a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8e56beb06e44b7" /><Relationship Type="http://schemas.openxmlformats.org/officeDocument/2006/relationships/notesMaster" Target="/ppt/notesMasters/notesMaster1.xml" Id="Rb2fc66528c9449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1c901186444636" /><Relationship Type="http://schemas.openxmlformats.org/officeDocument/2006/relationships/notesMaster" Target="/ppt/notesMasters/notesMaster1.xml" Id="R764138930d4842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a1fd4bf74042ab" /><Relationship Type="http://schemas.openxmlformats.org/officeDocument/2006/relationships/notesMaster" Target="/ppt/notesMasters/notesMaster1.xml" Id="R4dba1a0da6a14e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3fa3aa38694946" /><Relationship Type="http://schemas.openxmlformats.org/officeDocument/2006/relationships/notesMaster" Target="/ppt/notesMasters/notesMaster1.xml" Id="R39f27678e91a4c8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53648a12a2428c" /><Relationship Type="http://schemas.openxmlformats.org/officeDocument/2006/relationships/notesMaster" Target="/ppt/notesMasters/notesMaster1.xml" Id="R65cf91bbde064b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e25f27ca040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93c70e15e740e3" /><Relationship Type="http://schemas.openxmlformats.org/officeDocument/2006/relationships/slideLayout" Target="/ppt/slideLayouts/slideLayout1.xml" Id="Rf3785c358d4740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785c358d4740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39f5fb12545f1" /><Relationship Type="http://schemas.openxmlformats.org/officeDocument/2006/relationships/image" Target="/ppt/media/image.jpeg" Id="Raacaf1b1ae104979" /><Relationship Type="http://schemas.openxmlformats.org/officeDocument/2006/relationships/image" Target="/ppt/media/image.png" Id="Rc5de20f88d674c98" /><Relationship Type="http://schemas.openxmlformats.org/officeDocument/2006/relationships/notesSlide" Target="/ppt/notesSlides/notesSlide1.xml" Id="R263a96903ead46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2da236df44226" /><Relationship Type="http://schemas.openxmlformats.org/officeDocument/2006/relationships/notesSlide" Target="/ppt/notesSlides/notesSlide2.xml" Id="Rd3495e3d1d7f4f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c19e57a1b4028" /><Relationship Type="http://schemas.openxmlformats.org/officeDocument/2006/relationships/notesSlide" Target="/ppt/notesSlides/notesSlide3.xml" Id="R0a2b4981d43d45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bb2811b0241fc" /><Relationship Type="http://schemas.openxmlformats.org/officeDocument/2006/relationships/chart" Target="/ppt/slides/charts/chart1.xml" Id="R1971cb3b34f14eb5" /><Relationship Type="http://schemas.openxmlformats.org/officeDocument/2006/relationships/notesSlide" Target="/ppt/notesSlides/notesSlide4.xml" Id="R77b3e16e865d48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50b4eae484885" /><Relationship Type="http://schemas.openxmlformats.org/officeDocument/2006/relationships/notesSlide" Target="/ppt/notesSlides/notesSlide5.xml" Id="R12a00bac928245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5e0b4a60843a4" /><Relationship Type="http://schemas.openxmlformats.org/officeDocument/2006/relationships/chart" Target="/ppt/slides/charts/chart2.xml" Id="Rb5c9c9b094684b17" /><Relationship Type="http://schemas.openxmlformats.org/officeDocument/2006/relationships/notesSlide" Target="/ppt/notesSlides/notesSlide6.xml" Id="R24917be5586f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4f853df7248e6" /><Relationship Type="http://schemas.openxmlformats.org/officeDocument/2006/relationships/chart" Target="/ppt/slides/charts/chart3.xml" Id="R982bcec0919c4ba4" /><Relationship Type="http://schemas.openxmlformats.org/officeDocument/2006/relationships/notesSlide" Target="/ppt/notesSlides/notesSlide7.xml" Id="Rf2c904024f5446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981b559d84ba2" /><Relationship Type="http://schemas.openxmlformats.org/officeDocument/2006/relationships/notesSlide" Target="/ppt/notesSlides/notesSlide8.xml" Id="R6d0978caceb84e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618c443474e56" /><Relationship Type="http://schemas.openxmlformats.org/officeDocument/2006/relationships/notesSlide" Target="/ppt/notesSlides/notesSlide9.xml" Id="Rf5c8f83348724f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80fc1e24c4059" /><Relationship Type="http://schemas.openxmlformats.org/officeDocument/2006/relationships/notesSlide" Target="/ppt/notesSlides/notesSlide10.xml" Id="Rba11523c1a094d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ad65f80ce49ce" /><Relationship Type="http://schemas.openxmlformats.org/officeDocument/2006/relationships/notesSlide" Target="/ppt/notesSlides/notesSlide11.xml" Id="Re586eb4e011844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e38d7b1a5485e" /><Relationship Type="http://schemas.openxmlformats.org/officeDocument/2006/relationships/notesSlide" Target="/ppt/notesSlides/notesSlide12.xml" Id="R7efd297f9d8c44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12b1b3d054542" /><Relationship Type="http://schemas.openxmlformats.org/officeDocument/2006/relationships/notesSlide" Target="/ppt/notesSlides/notesSlide13.xml" Id="R16a3e1c5566f48b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Proporción acumulada de caras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Proporción acumulada</c:v>
          </c:tx>
          <c:spPr>
            <a:ln xmlns:a="http://schemas.openxmlformats.org/drawingml/2006/main" w="28575">
              <a:solidFill>
                <a:srgbClr val="2563EB"/>
              </a:solidFill>
            </a:ln>
          </c:spPr>
          <c:marker>
            <c:symbol val="none"/>
          </c:marker>
          <c:cat>
            <c:numRef>
              <c:f>'Chart Data'!$A$2:$A$33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15</c:v>
                </c:pt>
                <c:pt idx="11">
                  <c:v>20</c:v>
                </c:pt>
                <c:pt idx="12">
                  <c:v>25</c:v>
                </c:pt>
                <c:pt idx="13">
                  <c:v>30</c:v>
                </c:pt>
                <c:pt idx="14">
                  <c:v>35</c:v>
                </c:pt>
                <c:pt idx="15">
                  <c:v>40</c:v>
                </c:pt>
                <c:pt idx="16">
                  <c:v>45</c:v>
                </c:pt>
                <c:pt idx="17">
                  <c:v>50</c:v>
                </c:pt>
                <c:pt idx="18">
                  <c:v>55</c:v>
                </c:pt>
                <c:pt idx="19">
                  <c:v>60</c:v>
                </c:pt>
                <c:pt idx="20">
                  <c:v>65</c:v>
                </c:pt>
                <c:pt idx="21">
                  <c:v>70</c:v>
                </c:pt>
                <c:pt idx="22">
                  <c:v>75</c:v>
                </c:pt>
                <c:pt idx="23">
                  <c:v>80</c:v>
                </c:pt>
                <c:pt idx="24">
                  <c:v>85</c:v>
                </c:pt>
                <c:pt idx="25">
                  <c:v>90</c:v>
                </c:pt>
                <c:pt idx="26">
                  <c:v>95</c:v>
                </c:pt>
                <c:pt idx="27">
                  <c:v>100</c:v>
                </c:pt>
                <c:pt idx="28">
                  <c:v>105</c:v>
                </c:pt>
                <c:pt idx="29">
                  <c:v>110</c:v>
                </c:pt>
                <c:pt idx="30">
                  <c:v>115</c:v>
                </c:pt>
                <c:pt idx="31">
                  <c:v>120</c:v>
                </c:pt>
              </c:numCache>
            </c:numRef>
          </c:cat>
          <c:val>
            <c:numRef>
              <c:f>'Chart Data'!$B$2:$B$33</c:f>
              <c:numCache>
                <c:formatCode>General</c:formatCode>
                <c:ptCount val="32"/>
                <c:pt idx="0">
                  <c:v>1</c:v>
                </c:pt>
                <c:pt idx="1">
                  <c:v>0.5</c:v>
                </c:pt>
                <c:pt idx="2">
                  <c:v>0.3333</c:v>
                </c:pt>
                <c:pt idx="3">
                  <c:v>0.5</c:v>
                </c:pt>
                <c:pt idx="4">
                  <c:v>0.4</c:v>
                </c:pt>
                <c:pt idx="5">
                  <c:v>0.5</c:v>
                </c:pt>
                <c:pt idx="6">
                  <c:v>0.5714</c:v>
                </c:pt>
                <c:pt idx="7">
                  <c:v>0.5</c:v>
                </c:pt>
                <c:pt idx="8">
                  <c:v>0.5556</c:v>
                </c:pt>
                <c:pt idx="9">
                  <c:v>0.6</c:v>
                </c:pt>
                <c:pt idx="10">
                  <c:v>0.6667</c:v>
                </c:pt>
                <c:pt idx="11">
                  <c:v>0.55</c:v>
                </c:pt>
                <c:pt idx="12">
                  <c:v>0.48</c:v>
                </c:pt>
                <c:pt idx="13">
                  <c:v>0.5333</c:v>
                </c:pt>
                <c:pt idx="14">
                  <c:v>0.5714</c:v>
                </c:pt>
                <c:pt idx="15">
                  <c:v>0.55</c:v>
                </c:pt>
                <c:pt idx="16">
                  <c:v>0.5333</c:v>
                </c:pt>
                <c:pt idx="17">
                  <c:v>0.52</c:v>
                </c:pt>
                <c:pt idx="18">
                  <c:v>0.5455</c:v>
                </c:pt>
                <c:pt idx="19">
                  <c:v>0.5167</c:v>
                </c:pt>
                <c:pt idx="20">
                  <c:v>0.5538</c:v>
                </c:pt>
                <c:pt idx="21">
                  <c:v>0.5714</c:v>
                </c:pt>
                <c:pt idx="22">
                  <c:v>0.56</c:v>
                </c:pt>
                <c:pt idx="23">
                  <c:v>0.5625</c:v>
                </c:pt>
                <c:pt idx="24">
                  <c:v>0.5412</c:v>
                </c:pt>
                <c:pt idx="25">
                  <c:v>0.5667</c:v>
                </c:pt>
                <c:pt idx="26">
                  <c:v>0.5474</c:v>
                </c:pt>
                <c:pt idx="27">
                  <c:v>0.56</c:v>
                </c:pt>
                <c:pt idx="28">
                  <c:v>0.5524</c:v>
                </c:pt>
                <c:pt idx="29">
                  <c:v>0.5455</c:v>
                </c:pt>
                <c:pt idx="30">
                  <c:v>0.5304</c:v>
                </c:pt>
                <c:pt idx="31">
                  <c:v>0.5333</c:v>
                </c:pt>
              </c:numCache>
            </c:numRef>
          </c:val>
        </c:ser>
        <c:ser>
          <c:idx val="1"/>
          <c:order val="1"/>
          <c:tx>
            <c:v>Valor esperado</c:v>
          </c:tx>
          <c:spPr>
            <a:ln xmlns:a="http://schemas.openxmlformats.org/drawingml/2006/main" w="19050">
              <a:solidFill>
                <a:srgbClr val="D62828"/>
              </a:solidFill>
            </a:ln>
          </c:spPr>
          <c:marker>
            <c:symbol val="none"/>
          </c:marker>
          <c:cat>
            <c:numRef>
              <c:f>'Chart Data'!$C$2:$C$33</c:f>
              <c:numCache>
                <c:formatCode>General</c:formatCode>
                <c:ptCount val="3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15</c:v>
                </c:pt>
                <c:pt idx="11">
                  <c:v>20</c:v>
                </c:pt>
                <c:pt idx="12">
                  <c:v>25</c:v>
                </c:pt>
                <c:pt idx="13">
                  <c:v>30</c:v>
                </c:pt>
                <c:pt idx="14">
                  <c:v>35</c:v>
                </c:pt>
                <c:pt idx="15">
                  <c:v>40</c:v>
                </c:pt>
                <c:pt idx="16">
                  <c:v>45</c:v>
                </c:pt>
                <c:pt idx="17">
                  <c:v>50</c:v>
                </c:pt>
                <c:pt idx="18">
                  <c:v>55</c:v>
                </c:pt>
                <c:pt idx="19">
                  <c:v>60</c:v>
                </c:pt>
                <c:pt idx="20">
                  <c:v>65</c:v>
                </c:pt>
                <c:pt idx="21">
                  <c:v>70</c:v>
                </c:pt>
                <c:pt idx="22">
                  <c:v>75</c:v>
                </c:pt>
                <c:pt idx="23">
                  <c:v>80</c:v>
                </c:pt>
                <c:pt idx="24">
                  <c:v>85</c:v>
                </c:pt>
                <c:pt idx="25">
                  <c:v>90</c:v>
                </c:pt>
                <c:pt idx="26">
                  <c:v>95</c:v>
                </c:pt>
                <c:pt idx="27">
                  <c:v>100</c:v>
                </c:pt>
                <c:pt idx="28">
                  <c:v>105</c:v>
                </c:pt>
                <c:pt idx="29">
                  <c:v>110</c:v>
                </c:pt>
                <c:pt idx="30">
                  <c:v>115</c:v>
                </c:pt>
                <c:pt idx="31">
                  <c:v>120</c:v>
                </c:pt>
              </c:numCache>
            </c:numRef>
          </c:cat>
          <c:val>
            <c:numRef>
              <c:f>'Chart Data'!$D$2:$D$33</c:f>
              <c:numCache>
                <c:formatCode>General</c:formatCode>
                <c:ptCount val="32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0.5</c:v>
                </c:pt>
                <c:pt idx="20">
                  <c:v>0.5</c:v>
                </c:pt>
                <c:pt idx="21">
                  <c:v>0.5</c:v>
                </c:pt>
                <c:pt idx="22">
                  <c:v>0.5</c:v>
                </c:pt>
                <c:pt idx="23">
                  <c:v>0.5</c:v>
                </c:pt>
                <c:pt idx="24">
                  <c:v>0.5</c:v>
                </c:pt>
                <c:pt idx="25">
                  <c:v>0.5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Población uniforme</a:t>
            </a:r>
          </a:p>
        </c:rich>
      </c:tx>
      <c:overlay val="0"/>
    </c:title>
    <c:plotArea>
      <c:barChart>
        <c:barDir val="col"/>
        <c:grouping val="clustered"/>
        <c:varyColors val="0"/>
        <c:ser>
          <c:idx val="0"/>
          <c:order val="0"/>
          <c:tx>
            <c:v>Población</c:v>
          </c:tx>
          <c:spPr>
            <a:solidFill xmlns:a="http://schemas.openxmlformats.org/drawingml/2006/main">
              <a:srgbClr val="38BDF8"/>
            </a:solidFill>
          </c:spPr>
          <c:cat>
            <c:strRef>
              <c:f>'Chart Data'!$A$2:$A$11</c:f>
              <c:strCache>
                <c:ptCount val="10"/>
                <c:pt idx="0">
                  <c:v>70–73</c:v>
                </c:pt>
                <c:pt idx="1">
                  <c:v>73–76</c:v>
                </c:pt>
                <c:pt idx="2">
                  <c:v>76–79</c:v>
                </c:pt>
                <c:pt idx="3">
                  <c:v>79–82</c:v>
                </c:pt>
                <c:pt idx="4">
                  <c:v>82–85</c:v>
                </c:pt>
                <c:pt idx="5">
                  <c:v>85–88</c:v>
                </c:pt>
                <c:pt idx="6">
                  <c:v>88–91</c:v>
                </c:pt>
                <c:pt idx="7">
                  <c:v>91–94</c:v>
                </c:pt>
                <c:pt idx="8">
                  <c:v>94–97</c:v>
                </c:pt>
                <c:pt idx="9">
                  <c:v>97–100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100</c:v>
                </c:pt>
                <c:pt idx="1">
                  <c:v>99</c:v>
                </c:pt>
                <c:pt idx="2">
                  <c:v>101</c:v>
                </c:pt>
                <c:pt idx="3">
                  <c:v>100</c:v>
                </c:pt>
                <c:pt idx="4">
                  <c:v>100</c:v>
                </c:pt>
                <c:pt idx="5">
                  <c:v>101</c:v>
                </c:pt>
                <c:pt idx="6">
                  <c:v>99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Distribución de las medias muestrales</a:t>
            </a:r>
          </a:p>
        </c:rich>
      </c:tx>
      <c:overlay val="0"/>
    </c:title>
    <c:plotArea>
      <c:lineChart>
        <c:grouping val="standard"/>
        <c:ser>
          <c:idx val="0"/>
          <c:order val="0"/>
          <c:tx>
            <c:v>n = 10</c:v>
          </c:tx>
          <c:spPr>
            <a:ln xmlns:a="http://schemas.openxmlformats.org/drawingml/2006/main" w="28575">
              <a:solidFill>
                <a:srgbClr val="D94DBB"/>
              </a:solidFill>
            </a:ln>
          </c:spPr>
          <c:marker>
            <c:symbol val="none"/>
          </c:marker>
          <c:cat>
            <c:numRef>
              <c:f>'Chart Data'!$A$2:$A$16</c:f>
              <c:numCache>
                <c:formatCode>General</c:formatCode>
                <c:ptCount val="15"/>
                <c:pt idx="0">
                  <c:v>78</c:v>
                </c:pt>
                <c:pt idx="1">
                  <c:v>79</c:v>
                </c:pt>
                <c:pt idx="2">
                  <c:v>80</c:v>
                </c:pt>
                <c:pt idx="3">
                  <c:v>81</c:v>
                </c:pt>
                <c:pt idx="4">
                  <c:v>82</c:v>
                </c:pt>
                <c:pt idx="5">
                  <c:v>83</c:v>
                </c:pt>
                <c:pt idx="6">
                  <c:v>84</c:v>
                </c:pt>
                <c:pt idx="7">
                  <c:v>85</c:v>
                </c:pt>
                <c:pt idx="8">
                  <c:v>86</c:v>
                </c:pt>
                <c:pt idx="9">
                  <c:v>87</c:v>
                </c:pt>
                <c:pt idx="10">
                  <c:v>88</c:v>
                </c:pt>
                <c:pt idx="11">
                  <c:v>89</c:v>
                </c:pt>
                <c:pt idx="12">
                  <c:v>90</c:v>
                </c:pt>
                <c:pt idx="13">
                  <c:v>91</c:v>
                </c:pt>
                <c:pt idx="14">
                  <c:v>92</c:v>
                </c:pt>
              </c:numCache>
            </c:numRef>
          </c:cat>
          <c:val>
            <c:numRef>
              <c:f>'Chart Data'!$B$2:$B$16</c:f>
              <c:numCache>
                <c:formatCode>General</c:formatCode>
                <c:ptCount val="15"/>
                <c:pt idx="0">
                  <c:v>0.00555</c:v>
                </c:pt>
                <c:pt idx="1">
                  <c:v>0.01321</c:v>
                </c:pt>
                <c:pt idx="2">
                  <c:v>0.02751</c:v>
                </c:pt>
                <c:pt idx="3">
                  <c:v>0.05013</c:v>
                </c:pt>
                <c:pt idx="4">
                  <c:v>0.07995</c:v>
                </c:pt>
                <c:pt idx="5">
                  <c:v>0.11158</c:v>
                </c:pt>
                <c:pt idx="6">
                  <c:v>0.13628</c:v>
                </c:pt>
                <c:pt idx="7">
                  <c:v>0.14568</c:v>
                </c:pt>
                <c:pt idx="8">
                  <c:v>0.13628</c:v>
                </c:pt>
                <c:pt idx="9">
                  <c:v>0.11158</c:v>
                </c:pt>
                <c:pt idx="10">
                  <c:v>0.07995</c:v>
                </c:pt>
                <c:pt idx="11">
                  <c:v>0.05013</c:v>
                </c:pt>
                <c:pt idx="12">
                  <c:v>0.02751</c:v>
                </c:pt>
                <c:pt idx="13">
                  <c:v>0.01321</c:v>
                </c:pt>
                <c:pt idx="14">
                  <c:v>0.00555</c:v>
                </c:pt>
              </c:numCache>
            </c:numRef>
          </c:val>
        </c:ser>
        <c:ser>
          <c:idx val="1"/>
          <c:order val="1"/>
          <c:tx>
            <c:v>n = 50</c:v>
          </c:tx>
          <c:spPr>
            <a:ln xmlns:a="http://schemas.openxmlformats.org/drawingml/2006/main" w="28575">
              <a:solidFill>
                <a:srgbClr val="2563EB"/>
              </a:solidFill>
            </a:ln>
          </c:spPr>
          <c:marker>
            <c:symbol val="none"/>
          </c:marker>
          <c:cat>
            <c:numRef>
              <c:f>'Chart Data'!$C$2:$C$16</c:f>
              <c:numCache>
                <c:formatCode>General</c:formatCode>
                <c:ptCount val="15"/>
                <c:pt idx="0">
                  <c:v>78</c:v>
                </c:pt>
                <c:pt idx="1">
                  <c:v>79</c:v>
                </c:pt>
                <c:pt idx="2">
                  <c:v>80</c:v>
                </c:pt>
                <c:pt idx="3">
                  <c:v>81</c:v>
                </c:pt>
                <c:pt idx="4">
                  <c:v>82</c:v>
                </c:pt>
                <c:pt idx="5">
                  <c:v>83</c:v>
                </c:pt>
                <c:pt idx="6">
                  <c:v>84</c:v>
                </c:pt>
                <c:pt idx="7">
                  <c:v>85</c:v>
                </c:pt>
                <c:pt idx="8">
                  <c:v>86</c:v>
                </c:pt>
                <c:pt idx="9">
                  <c:v>87</c:v>
                </c:pt>
                <c:pt idx="10">
                  <c:v>88</c:v>
                </c:pt>
                <c:pt idx="11">
                  <c:v>89</c:v>
                </c:pt>
                <c:pt idx="12">
                  <c:v>90</c:v>
                </c:pt>
                <c:pt idx="13">
                  <c:v>91</c:v>
                </c:pt>
                <c:pt idx="14">
                  <c:v>92</c:v>
                </c:pt>
              </c:numCache>
            </c:numRef>
          </c:cat>
          <c:val>
            <c:numRef>
              <c:f>'Chart Data'!$D$2:$D$16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8E-05</c:v>
                </c:pt>
                <c:pt idx="3">
                  <c:v>0.00157</c:v>
                </c:pt>
                <c:pt idx="4">
                  <c:v>0.01622</c:v>
                </c:pt>
                <c:pt idx="5">
                  <c:v>0.08586</c:v>
                </c:pt>
                <c:pt idx="6">
                  <c:v>0.2334</c:v>
                </c:pt>
                <c:pt idx="7">
                  <c:v>0.32574</c:v>
                </c:pt>
                <c:pt idx="8">
                  <c:v>0.2334</c:v>
                </c:pt>
                <c:pt idx="9">
                  <c:v>0.08586</c:v>
                </c:pt>
                <c:pt idx="10">
                  <c:v>0.01622</c:v>
                </c:pt>
                <c:pt idx="11">
                  <c:v>0.00157</c:v>
                </c:pt>
                <c:pt idx="12">
                  <c:v>8E-05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v>n = 100</c:v>
          </c:tx>
          <c:spPr>
            <a:ln xmlns:a="http://schemas.openxmlformats.org/drawingml/2006/main" w="28575">
              <a:solidFill>
                <a:srgbClr val="159F78"/>
              </a:solidFill>
            </a:ln>
          </c:spPr>
          <c:marker>
            <c:symbol val="none"/>
          </c:marker>
          <c:cat>
            <c:numRef>
              <c:f>'Chart Data'!$E$2:$E$16</c:f>
              <c:numCache>
                <c:formatCode>General</c:formatCode>
                <c:ptCount val="15"/>
                <c:pt idx="0">
                  <c:v>78</c:v>
                </c:pt>
                <c:pt idx="1">
                  <c:v>79</c:v>
                </c:pt>
                <c:pt idx="2">
                  <c:v>80</c:v>
                </c:pt>
                <c:pt idx="3">
                  <c:v>81</c:v>
                </c:pt>
                <c:pt idx="4">
                  <c:v>82</c:v>
                </c:pt>
                <c:pt idx="5">
                  <c:v>83</c:v>
                </c:pt>
                <c:pt idx="6">
                  <c:v>84</c:v>
                </c:pt>
                <c:pt idx="7">
                  <c:v>85</c:v>
                </c:pt>
                <c:pt idx="8">
                  <c:v>86</c:v>
                </c:pt>
                <c:pt idx="9">
                  <c:v>87</c:v>
                </c:pt>
                <c:pt idx="10">
                  <c:v>88</c:v>
                </c:pt>
                <c:pt idx="11">
                  <c:v>89</c:v>
                </c:pt>
                <c:pt idx="12">
                  <c:v>90</c:v>
                </c:pt>
                <c:pt idx="13">
                  <c:v>91</c:v>
                </c:pt>
                <c:pt idx="14">
                  <c:v>92</c:v>
                </c:pt>
              </c:numCache>
            </c:numRef>
          </c:cat>
          <c:val>
            <c:numRef>
              <c:f>'Chart Data'!$F$2:$F$16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1E-05</c:v>
                </c:pt>
                <c:pt idx="4">
                  <c:v>0.00114</c:v>
                </c:pt>
                <c:pt idx="5">
                  <c:v>0.032</c:v>
                </c:pt>
                <c:pt idx="6">
                  <c:v>0.23651</c:v>
                </c:pt>
                <c:pt idx="7">
                  <c:v>0.46067</c:v>
                </c:pt>
                <c:pt idx="8">
                  <c:v>0.23651</c:v>
                </c:pt>
                <c:pt idx="9">
                  <c:v>0.032</c:v>
                </c:pt>
                <c:pt idx="10">
                  <c:v>0.00114</c:v>
                </c:pt>
                <c:pt idx="11">
                  <c:v>1E-05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9F056D-FA5B-4805-BF17-60E42761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15F8D-BA8F-4646-9295-1AA026E3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2A583-B63A-4C9C-A8F4-D07A663B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D75E8-4C3C-45AA-8550-AFDB5DAD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95C33-47D4-4947-BF6A-8A21751E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3DC9F-957F-4FC7-8F1A-C1EAD4A6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6C08A-F619-4368-A6A1-ED6325F7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D5231-85F3-422A-BDAE-9DC9C5AB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5B89D-267F-4CFC-AEF2-97A02E3A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ADD6E-3336-45B8-85F0-9B426B9D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7DE1A-44BC-4752-A8A6-D698784E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84593-91D3-4E83-9405-781A9BC1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E8CAD-F205-4A39-92BD-B4B8F89D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B9184-682F-476A-9CC7-11135972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459FF-F5B9-410A-ADD0-AEC6ADF7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EA322-5792-417F-89C4-BE2FD7B1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059B0-8874-49A4-AD03-D8441591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75220-90CB-4906-B17A-1FEFDAB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1FE4D-DF8B-4D8D-8D29-C04D1C15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5BBEC-69AC-48CC-A51B-18D7A48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0DC1A-8DBA-4362-9F3E-BEB448B4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16335-270B-4242-8DFD-941911D9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F2E63F-164B-4EFA-B718-DD9E3B1D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3E3E3-B5AA-4178-9D17-594CC363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CA6F4-6D72-4F4F-9065-35172C23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FA6CAD-002D-44F1-A7E3-13E23E44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2BA72-A35A-42B3-B206-B2A6B4D7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DA02EF-72E1-45FD-B48B-35073B1B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FF876A-5127-4160-9EF9-445E51F0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83EFB4-EA07-41EA-B98F-608728E8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D0720-2A4E-4A9D-93F0-EAA79CD2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F910C-DBFE-4FC8-9147-16BA7673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5685F-4738-46EC-B7BC-9DA84907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84F57D-2C15-40DA-8AB2-9B3E4376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9CA194-AE42-4264-9FA9-6A0C7C68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B61880-1DDA-47CD-96C9-29980998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FDF903-35B2-4548-AE64-A8C2366E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63759E-D2E6-491A-870D-54B2AD01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4FD33A-54FC-405B-B7EA-519637E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A544F0-24C9-4FCC-8117-330E3945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10297A-4345-4B25-B570-513381DA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D0304A-F074-4797-9BE7-61E102F2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3F1FBD-20FD-43E1-A73C-0F2881B7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62F6739-2740-4D4B-8F5C-3E7F86B8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12522E-AEAA-4A28-A4FE-D28EF34A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2F2C6A-44EC-47E9-A028-EEDE37E2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CAFAA9-5913-4A7D-A100-810CFEF9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E831295-A932-43E2-80FD-18817F09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DF9F52-B904-4FEA-A3DE-C9D1DEFD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F002AF-DD82-4A6A-8483-04A6C239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DCAE98-C232-46E4-AEF7-DE7DAFF8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AC2B3E-97BF-40C8-8399-DEDEE9B5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af1b1ae104979"/>
          <a:srcRect xmlns:a="http://schemas.openxmlformats.org/drawingml/2006/main" l="26563" t="0" r="265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2ABF77-09D0-4065-951B-1E118613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62125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30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Ley de los Grandes Números</a:t>
            </a:r>
          </a:p>
          <a:p xmlns:a="http://schemas.openxmlformats.org/drawingml/2006/main">
            <a:pPr algn="l">
              <a:defRPr sz="30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30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y Teorema del Límite Central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9AC3CB-73DD-4074-93DF-A9D1EF4B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Introducción a la inferencia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C929D8-7B51-4011-A240-9998732A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José Ruiz-Tagle Maturana</a:t>
            </a:r>
          </a:p>
        </p:txBody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e20f88d674c98"/>
          <a:stretch xmlns:a="http://schemas.openxmlformats.org/drawingml/2006/main"/>
        </p:blipFill>
        <p:spPr>
          <a:xfrm xmlns:a="http://schemas.openxmlformats.org/drawingml/2006/main">
            <a:off x="6571151" y="5381625"/>
            <a:ext cx="3716948" cy="904875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B4602A-835A-43DE-8EDF-F4512E00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D94DBB"/>
                </a:solidFill>
                <a:latin typeface="Aptos"/>
                <a:ea typeface="Aptos"/>
                <a:cs typeface="Aptos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815076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E26B08A-E3DD-4D96-9C80-63D6A27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FD8ED-9F6C-4123-AF61-594A0843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5A05F-CEB9-44F6-8A51-07630959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C8E10-2D7F-49AA-9C3B-58F1D01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95711-7E72-42C0-B774-964D43C9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C65BA-FAFF-43BD-AAC8-7F9083EA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50FA3-1A2A-4030-BE85-120598F2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BB677-AED0-4708-832A-66920A5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BA895-4A12-4AB5-A076-E4346018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1CAE3-0FE1-423C-9769-8A952227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183A2-BCEB-4A41-8D47-C8AA6143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C0000-811F-4410-8ECA-FE123F4A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7F457-F71A-4420-8B1A-1AF06DCC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8AE2A-D5BE-4CDF-AD36-7CC6812A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CA678-C2D9-400C-BE95-A6E7CF8C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4D3A9-EDAC-43FF-9DC4-03DB8CE3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404A5-D2A9-4181-B074-FCCE432D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A9CEF-7BDA-4A40-8BBB-16CE65C7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A5EDB-F539-4362-A0F9-2E07C2E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6B693-27CC-4070-81D9-7D8ADEE3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DC037-1D16-4260-B661-DD1BA56D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630CE-1746-4CA0-9013-40F0B4F7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1B63A-2EBF-45F3-896D-700A8164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08D98-176F-4840-B207-AE0E2781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681D7-290B-4DFC-B1B5-332DA8C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D3BDD5-45B6-4411-B519-C2B804A5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D5EF61-0F3E-4EDC-B60A-60011582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2B4FD-5415-4A9D-960B-2D63377E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6C578-EE72-4471-87A6-329870B8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49E3A7-AB9C-4AEF-83AA-7E6A83E6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47E56-E5F1-47AF-ACBC-FFAECB4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64004B-74CE-4C3D-979B-9F8D45AC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7E78AF-1FD7-4310-9915-5F9015B3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125A0F-1A6E-4FB9-AAC5-3D1846AE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B3C811-3FE3-4849-8D28-34E5EB87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FEF138-F89D-4E60-B941-605757E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537AFF-BA81-4517-9FEF-F9C283AD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FEEAF9-F8D2-487F-B6D4-5F2DC6AE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EB1F44-1137-43DD-B93F-4A6D180B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D747ED-6BBC-4350-87EF-5BDF1D30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305B43-5653-4D42-BDA3-FBCFD14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3DA2E1-90CE-4753-B5A7-3234618F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B30439-54B1-425E-B178-6E3B86ED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964CC1-AB20-4550-A8AC-1EC6E196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D5A789-4C1F-4D9D-8E9B-1F8AE3AF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42B495-B5E3-478F-99E8-4B155B1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4F2ACA-8CBC-467D-A3E0-73BC1AEA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9B533A-DFAF-4391-B0AE-42455D64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1A6B31-6DB3-4F06-AAF0-0B5309FF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E1D623-D18D-461F-86A2-A8813966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B0D3FF-0DDB-452F-A258-F94616DB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E90E3E-CC80-4F08-87A2-9A55CB3A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2F1192-86DC-44C2-B91F-08E57ACC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384F61-24E1-42CD-9B9D-B04673F1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De una muestra a una población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B41659-C32F-4AFC-AB7D-B4467441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6286500" cy="4619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28575">
            <a:solidFill>
              <a:srgbClr val="C8C8C8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8FF408-562E-4DAA-B380-406977B2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47637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POBLACIÓN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022ECB-38F9-4BC4-B644-B04ADD2D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19375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Parámetros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A96FF8-49E3-44C1-B8E2-C9C1DA63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9562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μ   p   σ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739AD68-B342-440B-9A7E-5E005963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19375"/>
            <a:ext cx="2762250" cy="2238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4728CE-E5E4-423C-A2E5-E47277EA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098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MUESTRA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855F927-3FF8-4C50-8E63-41911E98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Estimadores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81536A-8BCB-4A14-9399-8C89D37E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814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x̄   p̂   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1BDB12-7E74-4331-9C19-62399040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INFERENCIA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6E96F9-8B20-4829-A8C5-3FD53A9B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9875"/>
            <a:ext cx="3524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Usamos los estimadores de la muestra para aproximarnos a los parámetros de la población.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E29C4D8-153D-48E9-80B0-C8A60D0E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6250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incertidumbre indica cuánto puede cambiar la estimación entre muestras.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04A6E7-5184-4F2A-899E-A918D367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30674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DDDABF-13EC-47DE-9A4A-5B849FEB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B9C0F-CDE0-4FA7-8E5D-CAC72073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4DBB6-A36C-4F39-8D6D-16980EC6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1B913-0ADB-4908-BF71-97F1BC9E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F793C-7F71-4EA5-A16A-5AE0D2B3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B3F39-DA4E-4E30-927B-ED43A9A8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C7DAB-67A5-4F58-B32E-70EA9F7D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DBBE0-7AF3-4A66-98A3-AE3EED4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EB37C-C188-457A-8806-D26C9FDC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9F5F5-8923-4F18-BF9D-4BA4C72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4BECB-98A0-414B-B405-33ADAB81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A1A7C-BFE2-45D2-BCFF-E8F54F4C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10A8D-716E-4E1D-866F-0FA791CF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336F6-624F-4D1C-9118-09B090D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82C03-EFC9-4382-82D5-DA0EBB32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D19F4-D2F7-487D-B4EF-5AC73D15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81342-EFF7-4A8F-838D-6FF02593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CA3DC-9E5C-43B6-A487-15CF6CAE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1781D-51FF-4A31-9B41-6695DEAC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7F02B-6493-4D32-A6A9-5CEF6574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ABF66-C40F-452A-BC10-4D8C6C53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5434E-6161-4D04-8922-3EB0748A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69CCB6-3DC0-4A81-8A57-6953593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51D45-FD10-4CC3-87C3-3D98A852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F257BB-ED84-47D1-B561-17E6E35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A8F2DD-7FC4-42A2-96B3-A1CC6451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86E38-F9FD-40A5-9204-C10299C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D710E-6CD2-4401-89D5-8732AB17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56BD41-0554-414E-945E-036D9F17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8FFA8-A071-44ED-B281-153C89DC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2A9BEE-0B52-4A61-A213-0FC19C3F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989ACD-D90C-44E9-AE7F-30FCEE9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0BE67B-4653-47E0-9F7D-57BAA1C0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9E8D52-6EC4-4769-980C-2288E217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5CADE5-2A37-4370-98A9-316F25BF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7BC52C-042B-437D-90FD-D572C897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94F731-1352-43FD-9FB9-15F9B67F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BFA876-E15C-4CD6-B652-5AA3CD44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49D23E-A19A-4BF9-92B8-E7EC11F8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895534-2191-4A14-8D47-383694D7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19AFA5-AC50-4D31-B15B-AB32CD1C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500FDE-1BAC-4768-BF69-588C22B0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69BBB4-FA61-4929-8C1D-435E16C4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1158D3-DE8F-4F8B-9EB6-42592033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73D62A-EBC2-45F7-8FDC-3719AEFE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556915-F825-43DE-99F1-3801EB5E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D5AF29-67E8-48A5-ADB0-0999FC68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3D1413-772D-48C8-89DB-6410B57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233D22-7FA3-4EFB-9F07-2A647682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D951AA-84CE-4486-ADD9-87D1B5C6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5ACDF2-F94D-4C44-A34B-2A613DE4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6E8455-4F36-49DC-A1CF-25878D95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535F78-4CEE-468A-8814-77A10792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20AF9B-0FD5-453D-9176-064F3FF7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Ley de los Grandes Números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D45BB5-A36C-4597-8959-12805FC8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335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Al repetir un experimento independiente, el promedio observado tiende a estabilizarse cerca del valor esperado.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B2E50B-4CAC-4375-98BC-7ED811A0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146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Moneda justa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0C658F-8121-4D17-B69E-82E3B9DD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2667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Cara = 1</a:t>
            </a:r>
          </a:p>
          <a:p xmlns:a="http://schemas.openxmlformats.org/drawingml/2006/main">
            <a:pPr algn="ctr">
              <a:defRPr sz="23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Sello = 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649E29-1D04-45E0-8B1B-4DB94BE5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Valor esperado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652429-E285-46B5-B77B-90B22804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667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E(X) = 0,5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138097-C1D0-4E7A-AE9F-E9934036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9F7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9F78"/>
                </a:solidFill>
                <a:latin typeface="Aptos"/>
                <a:ea typeface="Aptos"/>
                <a:cs typeface="Aptos"/>
              </a:rPr>
              <a:t>Muchos lanzamientos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CEDBC5-0731-4B14-9306-33228BD7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2667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proporción de caras</a:t>
            </a:r>
          </a:p>
          <a:p xmlns:a="http://schemas.openxmlformats.org/drawingml/2006/main">
            <a:pPr algn="ctr">
              <a:defRPr sz="23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≈ 0,5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CA8A02-4196-4346-8B41-867A8145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convergencia ocurre en el largo plazo. La secuencia sigue siendo aleatoria.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6DCC94-4CC7-4C4E-8F2C-6541AE2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28976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1B104A-40E5-4C31-911A-B7394AC8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0D0B5-82FB-459E-B564-C58B6325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75175-C811-465F-AD8B-34158A93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9FF18-0F51-4EA6-B972-C7AA79D5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05960-EE59-4337-BBB6-27A67A52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65650-9DAF-44CC-BCB8-2A05D195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E4A36-6424-46F9-9853-7B4B638A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27C41-4659-4F16-B928-550D213F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D6008-C504-4288-8023-EA4F4A08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618A5-EB00-4B0D-BE9D-6ECB938A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3BD41-2EAA-437D-AA20-F423946C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35B5D-DDA4-4246-9A55-DC8F20B5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35ED1-28D1-4E6A-A28E-1CE6B757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8BBCC-0473-4C03-8EA6-77E130C0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7B699-103F-47D2-8066-816D3958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2D7C93-0408-404A-AF94-B4640F68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C842C-9C7E-4798-BC25-34F1C08D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EDE0DB-BFB3-4CA7-81E3-98337FB5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C7D65-502B-4E4E-83AC-3F01F836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EF9D7-2CDE-4F92-A8E4-5B82449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45EC5C-3209-44C8-BCB3-165AC726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14FA4-D847-411D-9113-A90661AF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77DC3D-A39A-4388-852A-4BA6CEC0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9710BF-DED5-4CC8-9E22-915CFED4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AA520-9EFD-4872-917B-9A5A2BE9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078141-F32C-48D3-B7FA-C6035DA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536076-E853-42C7-81F8-975115B5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E89F94-D652-46F6-BDC8-7B561294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9A83C-BDDF-4D78-A41D-47AEE304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601C10-D490-4FC4-8088-720004C9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C2B28D-3B88-4541-8096-8C5AF8B0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51F1C-3FEA-4AB4-B96F-8CE1B935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36FB7A-0039-4C86-9B35-C5AFE969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02FE22-CCCD-478C-993C-3C1BD6D4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517E31-A6CE-45E5-BE37-9E22D2AF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404DFA-B384-4E2F-87ED-9C2613BC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EDC353-81CD-4191-82E5-64AA3F11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046062-DDF0-47F1-9067-1B013720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DF995F-FDE2-477C-9005-C4471AB7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AFABB2-E842-414D-A56C-148E3B30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F3F28E-35C8-4875-A0A0-61DB0358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B63E44-53AB-43AD-BB7F-6F97F378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26B7F0-5F60-4234-9C62-DB43DB0E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C4F73E-8A07-4E21-AFA7-46CFED51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FD7E8C-4BF3-47A8-B22C-AD4A94FD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6E4517-E3AC-47BC-A6BA-BFCAC8D2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4D15EF-13CE-4567-9FEB-FC85D7BD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98273D-F8F7-4C65-8C88-850FF97D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9ACB4D-9378-4BBA-9670-A68357B8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503D34-79A4-4629-AD03-0CF1DFA1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F167FB-A876-4F78-B05C-92DD875B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C75B97-C39B-451D-9983-C415595B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70B0E3-8576-43FC-A608-47EBC66A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E042D6-025D-4FF2-875A-6B8838FA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La proporción se estabiliza</a:t>
            </a:r>
          </a:p>
        </p:txBody>
      </p:sp>
      <p:graphicFrame>
        <p:nvGraphicFramePr>
          <p:cNvPr id="112" name="Chart"/>
          <p:cNvGraphicFramePr/>
          <p:nvPr/>
        </p:nvGraphicFramePr>
        <p:xfrm>
          <a:off xmlns:a="http://schemas.openxmlformats.org/drawingml/2006/main" x="904875" y="1381125"/>
          <a:ext xmlns:a="http://schemas.openxmlformats.org/drawingml/2006/main" cx="1038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71cb3b34f14eb5"/>
          </a:graphicData>
        </a:graphic>
      </p:graphicFrame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98BA206-C7FA-411D-B6B1-137F6122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3880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61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Las oscilaciones iniciales son grandes. Con más lanzamientos, cada resultado nuevo cambia menos el promedio.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E6392B-1C9E-4C74-95C5-1C43E4CB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893855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DED1351-D5A2-4435-9282-8E87222B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BAC61-2CE3-47EC-B289-85A90D45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AA981-C5AB-4FE8-B362-B91489BF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2F077-7EA6-4D57-8869-405B02EF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8BCF4-77C7-40E3-A4CC-C2752A90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34ACE-04AC-4377-A5EE-6ADCE971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62494-2431-4C0C-BE69-3DDB7D60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8509E-3779-4E1D-89D5-E3425CB4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3ECE2-47EF-4CCB-9069-5FDF1A42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3409F-2953-4F16-B7D5-E6661F51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13BFC7-826A-4355-B224-6E87367B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24AFD-C1D6-492F-B621-FE5D5222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6E540-E89A-4DF7-8E1E-A521D528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A9708-1062-42B9-A0BA-34AE5429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04EEE-57C5-4C06-8BE9-10175F95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D0315-D019-4C13-B84F-21B125F1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87523-C0C1-482D-8CB8-C0FD2EF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75EE9-560B-4A95-B4E4-0DCA0F2F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D797D-7B79-451B-BA15-B19252D9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42B5F-71FE-478C-B639-364EAD0C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B4F86-F19F-4D36-8E04-A5C57D98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EC70E-578E-4803-BD27-D53CBAFB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54EAE-3D00-4B87-AB79-2F3F8613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18FA9B-4272-4826-9C30-272EA2E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FC967-BD92-43E8-B4E1-C9FE161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10CC77-8489-4DFE-A2CD-B3E99502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92767-AEE5-4048-B151-FCCEC164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BD27E0-90B5-4EFB-9D58-05CDA301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4CB38F-E5B4-42DE-91B3-99B12EA8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FCEC1-94DE-4BB8-BDC8-001B0F38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4CA224-B191-41E1-8B5E-E71AA9E2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3A146F-E140-4316-80D6-CD47AA34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92834B-E9E7-4EC0-968C-295A187F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FB00EF-C26C-4D37-B6DC-0A807A36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65170E-4E09-4DDC-A2F5-03C46FC3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EE50C1-1D54-49AE-942B-B299DD6A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BBA467-B7D2-44DF-BA24-60FD90F9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5D3BE5-16B7-458A-B910-1C2F4A0E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6F0CC8-1D4B-472F-A396-D9694176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441AB3-75B9-4F7C-BDA4-E3F7CD9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653C34-4853-40C3-9E1A-D050C351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84C18D-79AA-4F99-8D5E-20D53D57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2779E0-B257-458E-8BC0-5CD1A07B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74F7E0-9742-4CB3-B98B-B536A084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F1645E-A5FD-416D-99A5-08303062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040D49-9BD9-455C-B40F-7156AE3F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0122FE-7D95-4078-A371-03BDE896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90EEFC-783B-4394-B4BD-DBE65FD2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B84437-AB12-4743-B70B-EA57B95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4DAE4D-A022-4AF2-944B-344AF600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7A59DCF-82C3-4256-BE61-FC72CE22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79334A-EC12-4091-90EB-DCFF6B58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FFA325-0F49-40C0-B437-39F13019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DAABEB-639A-49D4-A476-EAFCCCB6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La falacia del apostador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465968-0E32-46C5-9613-7D31F5E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Secuencia observada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33E1BE-F8D5-477D-9734-175B501E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C  C  C  C  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4AA37A-DA68-4910-8DBF-300BF248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¿Ahora debe salir sello?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D3A5DE-FA6E-435D-B207-F50B43F1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Siguiente lanzamiento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12CCFA-B037-42B3-91AF-137B6CEF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19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P(cara) = 0,5</a:t>
            </a:r>
          </a:p>
          <a:p xmlns:a="http://schemas.openxmlformats.org/drawingml/2006/main">
            <a:pPr algn="ctr">
              <a:defRPr sz="27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P(sello) = 0,5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640456-09C4-4E41-999F-CEAFB895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Los lanzamientos independientes no tienen memoria.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71861B-2CE1-4484-8F52-FF2CBCFA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245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La LGN no promete una compensación inmediata.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9E4883-1E91-441A-A427-E96D8543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44133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027A7D-866B-4321-811A-CCE87AD6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F7B63-A431-47B0-B84E-5A6686D1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6398C-D978-40E9-B11B-D657017B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906B0-2A0D-419C-AEB7-CAE1F736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DC2E0-3990-4797-AAD3-EC127637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1F1CD-E27B-4E60-9DF2-89C7F764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CF711-AF78-47FC-B9C6-B64E06D0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D589E-A610-468C-B857-F5DE65E1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16DF8D-8BA7-4326-976A-6681988D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989F0-952A-4F9B-B303-AF572054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583B4-6762-492A-B79E-A43B75BF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98A95-C24E-4579-938B-EAD27E8F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F058B-E7F2-4C5A-BE87-1708A4F8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80D1F6-8197-4D96-8B74-87C45547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0FFC9-1B66-4490-A818-D85281EF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86695-CC0D-48B1-B717-0A1529D8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72DA5A-2F7E-4081-8E2C-3E452948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A6295-F1EA-4BEF-801B-3119F84E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6DC53-FB6E-43A5-BFAB-D514B763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B778B-CE02-4CA8-BE40-1E1F56C3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EB0A6-A3C4-423D-921C-A3627707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BE94C-0D68-41C5-B539-17283974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925A0F-2DBC-4322-B5C5-45D893EE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7865B-8397-4B96-82EF-2A3A44D6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99C9C-D679-4EDF-A516-9F720974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3E967-14B7-41E6-904D-B88C2DE5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E9CD7-8CE8-41EC-B616-A7EEBF28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B140F-0410-44D6-AF44-CD162031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CF7A4E-A766-43BD-8B00-2FB97EEB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BCD1F3-1457-4EBA-B9C2-A5124C14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BD3EB-D0AF-463B-B3E0-EEF5B2EA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15B17D-087A-46B0-AE63-8A80B630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5516F2-A522-41EB-8894-F1746172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822D00-7ACF-48B4-8FEB-C1C62A67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BB22A5-18CB-49B1-8CC4-92B96B7E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DBB537-CEB7-4115-829D-AFF8397F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440AA-57B4-4493-AC04-08CDAB3B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AA30E8-30D9-4D38-9312-ED9377FF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D29C22-A742-4471-BFFF-D4C413BD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DB2840-9580-4C2A-B412-C6EBC3D0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B8EFA-562B-44B7-9A31-57378367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8693C4-AEC9-493A-A1A9-76CAB5A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E86376-7BB0-4F03-AF8D-C14958A7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CA6C31-14F9-4791-B0BB-05AFE26B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0099F8-7BF1-44C0-9603-043F7AB7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B5E250-CF48-4C6C-A680-09676452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A1D40E-F71F-49F0-9B87-DB653594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03BDA7-30C4-4C1F-A8AD-C1E9DC09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53CD03-868E-49F3-8114-A2AE5C81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8A0DCA-AAC7-41CF-94B4-46CB4B4A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2B6F00-5D2D-4D45-B359-92EA002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9FFBB1-C030-4E44-8B6E-93594A2A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3AB945-348A-4EFE-AAC5-C4964A72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849ECE-C6B5-460A-8E8F-1EE5642A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Teorema del Límite Central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7FD49C-0F09-41B1-B267-CCBD142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38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Partimos de una población que no tiene forma normal</a:t>
            </a:r>
          </a:p>
        </p:txBody>
      </p:sp>
      <p:graphicFrame>
        <p:nvGraphicFramePr>
          <p:cNvPr id="116" name="Chart"/>
          <p:cNvGraphicFramePr/>
          <p:nvPr/>
        </p:nvGraphicFramePr>
        <p:xfrm>
          <a:off xmlns:a="http://schemas.openxmlformats.org/drawingml/2006/main" x="952500" y="1952625"/>
          <a:ext xmlns:a="http://schemas.openxmlformats.org/drawingml/2006/main" cx="5048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c9c9b094684b17"/>
          </a:graphicData>
        </a:graphic>
      </p:graphicFrame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BADF14-A4AB-44CF-96B5-E09BB47B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Repetimos el muestreo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6015197-D9BD-4B52-8A6E-6C43354B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4286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1. Tomamos una muestra de tamaño 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2. Calculamos su media x̄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3. Guardamos el resultado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4. Volvemos a empezar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6D2109-F77A-4E98-9523-FB5DD3D4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El TLC describe la distribución de esas medias, no la distribución de la población.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181DF9-61BC-4F42-8C4B-F93B6C4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57828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EBA4C8-5D2E-482A-AB0C-839B9EED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EF657-8BB0-4D0A-AF0E-68F448A4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A9C2B-3476-43B6-BB94-2963F76D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5260D-27C7-4DD7-90B3-EA97DD3B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157EB-CE58-49C7-A1AE-06051584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D23F3-465C-4467-B50E-37B978E9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53B61-C386-4855-AC97-9475B8E5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D4F98-A8F6-44EA-88B7-599D8A5F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18C92-57F6-448A-9E22-7C7AA748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56C12-A7D4-46B1-B4B9-BD8D161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BEBB6F-6BD7-4FAC-AB21-7D8987AA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CE113-E927-4F53-9F5D-81A7408F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78DE2-16C5-4031-9D8E-FF9B7B4B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708C7-7E02-472C-8662-FF56F03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7640E9-6802-45DE-833A-91E9D49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9D944-D39B-4216-9620-42B5F14C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874AC-A207-4DBC-83D6-A99573AB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11BF7-60F8-41FD-988A-E51ECBCB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9CA12-4861-4E5B-98EE-BC589054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2E97-CAA2-4734-BC77-D1C917CD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C30AD-0B23-4E01-A88D-BA0551E0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CFC37-DB83-4B66-9954-5629933A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20970-3F26-4CE8-9887-CB4151F0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52ACD-926B-4FB0-85EF-726E0FE7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CA0CDD-44B2-497E-AAC1-2D0591B8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2A5935-3535-41C2-8F6F-254E8C76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98CB0-C01D-4CFA-AC3A-316FF338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37F5E-AD50-4FC2-9E51-46DE4041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D57F80-DD12-41AF-B99D-45DA5C27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14691F-78C7-4569-9A54-15CD5405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06F748-E1F2-4937-AA71-8C9760A2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418D8-2D30-4D02-8794-9DD35AFE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A70F5-21E0-47AE-8980-F3AF4F54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66C75F-2C3F-4F8D-A2C2-0B064146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E4FAF4-8AA9-49F2-AB22-C11D7E91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E8FF39-DD0F-404C-A9BD-C3DC44FD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99891C-66D9-405C-8B0D-D51A9D52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3E8833-306E-4BDB-99A7-5D1FD260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0A2E51-C921-454B-B148-BBD491F7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278867-B33C-4F08-A4DC-63E0A2D2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A89EDB-974E-4499-A9D6-7A25D3CD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E5EA74-C331-497B-AB00-DC8D9BD8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145127-58E0-4CFE-88DC-3912AF6B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84A90E-B276-4BFB-AA03-4D0A16C6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19A12B5-A5BA-40CE-B3A8-12234E4B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87AC08-1A8E-4D94-92A7-4AE5B61A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4BEC41-19C9-401D-B5E6-55ECE053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907069-88F4-43A6-8157-0D54DC52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ECFB09-0779-4F10-A04E-CEBA220C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E20AC5-7466-48E0-A788-30F0BC82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BB30F1-DDFE-430C-96C9-45AF5285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459BBF-E33D-4325-A5D8-869C6F05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FB5F44-9D37-4AB3-A92F-F5E87A59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29489A-B2A4-4040-A815-20154E44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Muestras más grandes, medias más precisas</a:t>
            </a:r>
          </a:p>
        </p:txBody>
      </p:sp>
      <p:graphicFrame>
        <p:nvGraphicFramePr>
          <p:cNvPr id="112" name="Chart"/>
          <p:cNvGraphicFramePr/>
          <p:nvPr/>
        </p:nvGraphicFramePr>
        <p:xfrm>
          <a:off xmlns:a="http://schemas.openxmlformats.org/drawingml/2006/main" x="904875" y="1381125"/>
          <a:ext xmlns:a="http://schemas.openxmlformats.org/drawingml/2006/main" cx="1038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2bcec0919c4ba4"/>
          </a:graphicData>
        </a:graphic>
      </p:graphicFrame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CCCBED5-8937-48AF-8992-1EB4659E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388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Centro: μ     ·     Error estándar: σ / √n     ·     Forma: aproximadamente normal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F639B1-E20E-4B78-BD01-00C17180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70395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5F2A9B-EAAD-4888-B0FA-1E96CC42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DCB4C-C375-488C-86A6-EB659EEE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8FF83-EF5A-439C-8798-E2B6089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09FA6-B1E3-4707-9B0B-6B3313F0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2FDF7-8790-4D55-A2DE-5230601D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4A364-252E-43B9-92EA-16C4CD49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EEFBB-7FA5-4850-874B-C3768AB4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C18B4-AC64-4352-9D3E-E2BA2972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C2BF6-F9B9-4474-BE68-19E2E04C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6D680-0559-4A73-B295-5CAA4D6C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28A19-E77C-4EC1-8A65-4CA61810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8D5EE-E898-4070-9D9A-A5C3E1E7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1126D-14F2-4D60-BAA1-BCED48A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221BA-CC13-4134-9DB3-083FA288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19CB3-E582-4CB9-A60D-7F25A307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BF644-D1DA-4922-B8B8-DB356E61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3ECF5-023F-4E04-965E-00F12AA2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64C90-AEA9-45BE-BC0C-170F47E6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F30C7-D1BD-4E85-BEED-B76DF0D1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86342-1678-4101-9A65-26216C56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87519-93C9-4DEE-B5AD-0DEC3002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F33FA-A02C-487D-8B43-151AA8A8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7C8D5-5CBA-46AA-B101-511CB6E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73CC98-8CC8-4B2A-9D14-F6FDCC32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E21204-C0FF-48E5-B4E1-924F60A5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5CEFE5-E8BD-4AEE-A5A6-0A10D3F5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02F0C-E86F-41AC-B17E-3A2DBE9E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DF2A6-552D-4334-AE7C-DF8561FB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AFCA58-FDCB-4816-A598-55B541B7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E0BB22-1EB7-4420-81BC-E6E7CDCB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86F8D8-EADA-4E3D-AFC4-6DA879E4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084B63-CA06-43F4-A17F-847ACCBB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8698D3-6563-4BC2-A6F7-ADA9A8A7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164D4E-C8A0-416E-993B-C5691AB4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F2115B-CEFE-4A68-B394-E33EBE7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76D4EF-1059-4FE5-B5C1-4DAAAE15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75F7F8-9D1F-4B88-AB5B-75262391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0FC937-6599-4419-BC14-888CFAF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ABD8E8-B9A0-4067-AFAB-1AC84D42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B2CFCF-A6E4-45D2-9058-D940CAD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A4F3E2-FF3B-4F2C-ACB2-294008E5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1FDFF5-06B1-4551-A6B1-45CA8CA4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1C7D86-9DE6-4ABC-BC7B-C2855BFD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6C3A6D-52DD-4691-962E-98996A0C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219CA2-8DEC-4356-8B14-FC20AD2C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F20BA6-14F0-4EAC-BCA3-A6217496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490A3C-807D-4122-8D07-24F540CA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0AC896-F006-4838-94F0-0170D660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0A53D4-B325-4458-916D-A4612926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560391-FEC3-4A73-8422-76EB7743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D6F29B-2374-4400-B65E-4D002A1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2B692F-27F4-4852-8432-83B417AB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04A8A5-D9C7-4AF3-8596-FA02B39C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8FF329-EE3D-4B22-BB0B-C71E9A6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Dos leyes, dos preguntas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CEC610-EF72-44EC-ACD3-444D0D6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LEY DE LOS GRANDES NÚMEROS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11C912-6009-4E1E-A5F1-789CEA6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¿Qué ocurre con un promedio cuando acumulamos observaciones?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4A4F81-A7AA-411B-A232-0FF617F4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81375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El promedio observado se acerca al valor esperado.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6F1129-56A3-46FD-92C7-4882C641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4763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TEOREMA DEL LÍMITE CENTRAL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4A4197-0FC5-4A12-A0FA-6D08BE1F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¿Cómo se distribuye un estadístico entre muchas muestras?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F1C2EA-453C-47DB-A45B-8D3FA636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81375"/>
            <a:ext cx="438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Las medias forman una distribución aproximadamente normal.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9522D8-CB01-4853-BC9C-50BBC3B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9F7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9F78"/>
                </a:solidFill>
                <a:latin typeface="Aptos"/>
                <a:ea typeface="Aptos"/>
                <a:cs typeface="Aptos"/>
              </a:rPr>
              <a:t>Ambas ideas explican por qué las muestras grandes suelen producir estimaciones más estables.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B2ED21-2D3C-49DE-AD8A-3FCBB837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887414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8D99AD6-B73A-4EE4-9CF6-4B59575B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102AF-03DB-41D5-B018-F9E79483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14437-9128-4C05-976C-6603D323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6B0B0-454F-40FD-AC22-23701357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DC631-7D75-4633-B389-C9B9BEC1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64479-AC0A-4FFC-856C-4134F4F7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1877D-51AF-43F4-B340-5DABBA93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91922-EE42-4C30-AC0F-323F5A31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38B1B-4F99-4CEE-BB25-91B30D5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FB613-A078-46A0-A4B7-89AE592B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B1EF7-FABC-471B-8FAD-C67189D6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F51C1-282B-4BB8-862F-BA758B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859F2-50A0-4AAF-8154-5CBB0FE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ED277-43E4-47C1-8396-7D4A261A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00090-DAAE-40EB-9493-81AF0267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E8844-789F-41E7-8833-0C7A5F12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8FD08-E590-43BA-BF79-C1AA1272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F962C-7CCB-4D9D-A61C-DDA8B801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EE33C-D9D2-4DD6-AAD6-6A8D79AA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D819B-2494-4CEB-8F5F-3BD39835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2F96A4-B35A-4CEB-9632-62EECC8A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07DBF-A7D9-4547-8F87-AFF7DB17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4436C-7420-450C-82CA-AC9B0199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51959C-7D43-4F5C-94CE-33E42915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749B76-350E-4483-9FE7-EBC41E18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AB4C1E-981B-4B77-A86C-5719A829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AA66A-989A-463B-B155-1FBD6F2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3C8BB7-A708-478B-870C-91650E2C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BD8D8-A0BE-45A5-989E-7775B333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6D2076-1412-4534-9C55-16630123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E0328F-AF66-43EA-8CF3-E13FA7C0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B9505D-2EC5-4AC7-A558-4D27E4F7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7684D7-87A8-45B4-9DB9-F1FDC701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80D372-0AB8-465C-934B-C94E5CA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EA8704-E486-47F3-8A12-95575AE8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4D8C8D-12E7-490C-B6CA-59C41A11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0918E5-813E-492B-A0BA-86BFA9A4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C0F0C-7276-419D-830A-104654C3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9003ED-B29B-420D-8F96-1E403903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6020C6-FFBA-4EAC-87E9-892A536E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E15DBE-D746-49B2-BB1E-DA8D470D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75EA15-DF05-4CC7-8DDF-9A0E60D6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624760-6F35-4E93-A945-CC291895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4C6189-F34D-4A3F-B90E-F8E1762E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DA2AA6-DE2A-425D-A6BF-BEC5EB7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A40AB4-4A15-4645-B2D8-E4B2BF11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1AC964-B6B0-43FA-989C-7B91DDAA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C20A97-66FF-4BCB-B38F-C4C43C37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71C968-B8B3-4BA7-8375-E6094739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BA88A4-A361-40C1-A9EB-D3D1254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56EA66-DEC2-46B8-B4A6-174BE36B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B8A68A-C7D4-4366-8CBD-0FAFDE01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40C803-25B2-464F-9D06-BE4590E9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718065-0B74-44E2-9BE5-A867AB0B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Antes de pasar a intervalos de confianza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0E11FA-B72C-40F6-A602-94EF9AD8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DB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00FD61-9994-46EC-BFBE-37E9413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6687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La muestra cambia cada vez que repetimos el muestreo.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8E2187F-9FAF-4F6E-A988-36174220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9875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FD2C03-932C-4437-9C4B-77D4B461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987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Un estadístico tiene variabilidad y podemos medirla.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34B94F-D38F-4543-B5DC-56CB53AF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809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F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7FCA2C-C635-4CCF-A311-C4E23666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5287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El tamaño muestral reduce el error estándar, pero no corrige sesgos del diseño.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60B9AD6-B34F-4896-817C-0076589E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81625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Pregunta para discutir: ¿qué mejora y qué no mejora al aumentar n?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9B8D08-B1CF-4A21-AC65-2656D991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705197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2537652-42F6-4701-8633-72C858AA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BC55E-7CAE-4DD2-A95D-E08FB2C4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60AEB-510F-469F-B033-ED455B73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DCE61-838B-4341-9A25-315818C2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E6AE4-09B2-41C2-B350-81E9633C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68DEB-57D5-4A65-8566-65A95538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55750-5B76-4100-8EBE-FD2F42A4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BE3BD-676C-462B-831B-23C72005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1BDDF-26B1-4251-9C2D-B778A1D5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4D57-2812-46B9-A783-2659D944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9DB27-C529-492D-93AC-F8271F39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0B812-AAE0-4FA6-B756-827306D8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9CDDF-35DD-40A4-902E-38AC88A1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EDB9A-22B5-41DE-8BE4-0C34DCBA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14850-542B-4C6B-834E-D562AEE1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3A4F7-5ED7-45EB-A956-EC8C359F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4247E-E3AF-4B34-8721-C7C9A6C8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D9F23-F2F7-49DF-881B-BB585F49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711FF-70A2-42F6-A41B-0A8B718C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FA004-3A3A-4BAB-8DC5-41603B3F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3DFEB-6C66-4EE8-A7F3-7D245A1F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CA79E-62F0-4C7E-8FC9-33C33E82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17E8F-92E7-44F3-BA34-03018E5C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81ACE-BE4B-4DE1-ACD5-D856E658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9B2C4B-7417-444F-BCFF-483DB1B8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B44BA1-44A5-44FD-9693-BB397A7C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1D198-0A84-4833-884B-16523B3A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A5BDC-1FE9-499B-8ED0-3CC7B918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0BAEF-20FC-47BA-9E43-E87EC7A3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0494AA-B45D-497E-9941-D6705C26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08809-462C-4DBC-8E2C-4BF4F840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73238D-A19F-4CAF-8095-1840AFB9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3DB147-EE0C-4E81-B67D-BA9746A9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1C48C-6569-40FC-90BD-9A49919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D92E86-455D-4E04-868F-B01193A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824EB6-C94F-405F-94DF-5E6E41A4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49195C-6940-4E27-83A5-B915EF12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0C4399-7894-43FD-B0A0-214C9B0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EF1AB1-3F87-4D79-80DF-6328DFB3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735BB2-D354-414A-A0FC-BB8C8BF3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11DF8C-3D76-41C1-B59B-9F1EE82E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D8AE72-1170-466D-AFF8-B4E91BF0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70BA9E-31F1-48D7-8DCC-BDE38E90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B02ABB1-207F-46CC-8768-330C492A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4E3EC3-3424-43B3-B847-BB01F645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781077-FFE9-4F00-86C2-8D0268E5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5EBBDD-46E5-49C7-99FA-1224C205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566C3A-0949-4351-B759-8749EADD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43CFDF-11E3-448D-AF9A-FF71410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6CE7E7-D4AD-4418-8B08-C53D6385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DFAC9C-B4C0-4ED1-B6F9-8A65AC10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59F1CC-15C4-4A67-B0CB-AEC78CE6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A062130-3A71-40C5-B3D1-AAB39CB9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4FAE04-F58C-4D30-A4B3-AD23AF4A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Intervalos de confianza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C5FCE5-04E4-4978-BC4F-D17DCAE9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285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Un intervalo combina una estimación puntual con su incertidumbre.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CA28CA-5322-4F27-A3DE-66894C54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Estimación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125D2B-E596-4F6A-9E81-64A04835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p̂ = 0,63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18C8A4-0F57-43E0-97F8-FFE007DF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Margen de error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0797B7A-CC53-4DE8-B429-BAFE22DA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z × EE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F8B165-83E6-4917-8170-F641B604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9F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9F78"/>
                </a:solidFill>
                <a:latin typeface="Aptos"/>
                <a:ea typeface="Aptos"/>
                <a:cs typeface="Aptos"/>
              </a:rPr>
              <a:t>Intervalo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CBC956-FAF9-47E0-A2D3-818E735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p̂ ± z × EE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EC0DC1-EB73-456B-883B-323467D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62500"/>
            <a:ext cx="885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Ejemplo: estimamos 63% de apoyo y el intervalo del 95% va de 52% a 74%.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C5767B-229E-4F04-82C8-B68CE531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721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El intervalo expresa la precisión de la estimación muestral.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82BAF0-B998-4700-8D19-7109E341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317880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7F5A2F6-6E74-4F17-83C3-9C5DAB6F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17701-7F68-46BB-AE34-F4941B80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F0324-999F-4FDD-A8ED-FC5137F0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07F3E-9BEC-441C-9B53-38208AC4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2767B-F801-4C59-951D-47C2FC85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BA9F8-C24B-411C-8BDB-B118046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28CAF-D84D-492F-AD6C-73ACC47D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8CA3A-19F1-4579-A8E6-E111697F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76A5A-3434-4DE9-8C44-62028000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858082-FF21-4031-B619-02D5AE7D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5457D-B6BA-490F-A271-4EAE70F2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BFD1F-ECED-43A2-AC1A-8AFC662C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E3738-3B45-465E-AE4F-9BAC33B1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43936-58CB-4F63-8DB6-E745FF02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1BD0D-5CE3-4E1B-8CCA-F12E6CD3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FB0866-DD15-42FD-8388-C5A63B07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7E30C-E35F-4804-9319-2BDD762C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88D3B-64EF-460A-BBE8-B9D82021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41FCD-71C5-4A03-AF02-AA06075E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17449-C2FA-430F-82CB-C6A1F40E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CB727-13EB-42F7-B230-708FEBFB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4ADB13-8F3B-42E3-9683-DB576D7A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986AB-8EDE-4A3F-AAB9-E20421F1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6BA9FD-9784-410A-AD2E-8B4C2C5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B60B33-3432-4F51-87B6-A805AEB7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5EEF98-EDE4-46DB-A211-826F28D4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E8B008-BDF3-49DB-B32F-2B00C93C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5A723-81B6-4D9E-959D-D1FF13EC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F67A8-23D9-4D43-B56B-93240867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F4C6D-47E5-4DC8-B5D5-A81A856A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35D9A2-890F-488F-B603-D8662CD1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5B5281-5C1F-48C0-BA95-1F8DDD2B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DA9F7-154E-41C7-8071-907D769B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40EC7C-C272-41EB-B98C-B8C9D722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5F496A-66DB-4326-B9D2-8FD78B80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545602-8A6A-442D-B032-F0F55E6F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FF2A23-E736-4A79-A33C-DD3E1A3A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AD87D3-89A6-4BAC-BC9E-80A73388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1BD38E-0C87-4480-B19F-83ADBF63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CD7853-1547-480B-8A62-4934772B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581F03-4A28-4DCA-96DD-FDEC84E5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100CFC-44FF-4592-9B7A-797126A2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EEC556-05D6-4E7F-A9AC-C5F3C17D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A55F7F-32D6-44BE-920B-3AC16DD0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B0F69C-6F71-4845-9656-CF2BA734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500F96-CB3A-4469-BC98-A70B8FAA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44A93D-4F18-40D4-96D5-6594352E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7115CB-F5E6-4FFD-9A37-D604B631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5B9153-C8CC-435C-8440-00D3FDAB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4F13B1-CC0A-4BF8-9819-7C903E60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41A255-DACE-40DD-8143-E28695BF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8CFA68-63D1-42E8-A31F-413303F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F6BDD5-76D8-416E-B4E8-D9813FE2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1AD3BF-9DE6-44F6-90E8-8E463586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¿Qué significa 95% de confianza?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AA0079-9245-4BB8-9469-9F63293A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1906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Imaginemos que repetimos el muestreo muchas veces y construimos un intervalo en cada ocasión.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FB367A-8FEE-4D86-ABEE-4D053B5B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0" cy="32385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62828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FB1607-264D-43A9-8677-56BE6F0D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3816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Parámetro verdadero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1D5A0A-5906-428F-8FC2-20E434FB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67844A-B2DA-4DC6-A009-B864802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7A9F87-5DAB-4539-AD97-04F02DBC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669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F5E9194-49D7-49F2-A9CD-57943E36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86025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16040C-F92A-470C-8F49-DB06144A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FBF87BC-21BA-4182-B376-B9DF9623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622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643D11-4387-4A55-8F2C-AC6F199B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81300"/>
            <a:ext cx="261937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844B31-F89F-4E9C-90CD-F5C29861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61B4E69-9A93-495E-849C-C56EC2EF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574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32AFCC-BC00-429A-A5C3-0AD07317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76575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2372C0-C110-4244-B23C-F3870999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28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7047367-B044-4404-8643-5B0681D9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527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4A2ACF6-339A-4264-A235-F2B8DCFA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71850"/>
            <a:ext cx="2571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5EDEEA-9932-49E3-BB24-3E3D3B06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24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935C39-5B76-4176-9DC6-7CA90BD3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480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0A9521-0DE6-48D4-8ED6-0754DA10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2381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D62828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BAC1BF-77F6-418F-A776-38A7459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828"/>
          </a:solidFill>
          <a:ln xmlns:a="http://schemas.openxmlformats.org/drawingml/2006/main" w="9525">
            <a:solidFill>
              <a:srgbClr val="D62828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A2A12A-8C61-4245-BD89-E0474BDC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433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AAAC31-375D-4610-AAFA-8740E36F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B42F4A-0F2F-4060-868A-F5BB572A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A8A121-717E-41AD-ACBF-385E920B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3857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2A08CBA-8A01-40C4-B448-3C9C8AD6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57675"/>
            <a:ext cx="2190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6BD1606-D11B-4E70-B9EB-1FC97BEB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2F1BD1-C9A2-4341-976E-B1C2D15E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3385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6C9C87-94A0-4302-813E-78E78D5C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52950"/>
            <a:ext cx="27146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928875D-0D30-45FA-BE19-E7304045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9063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0904432-2A44-4176-8BF4-D4D7D0DA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29125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9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36622E5-5754-401E-BA4B-63640C2C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48225"/>
            <a:ext cx="2333625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B4E14F1-175E-429A-8A9D-C2398915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800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94CF675-0C1E-489C-B877-1D4BBDC1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244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Muestra 10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D2E9F63-2E7C-463D-B292-97CF909D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1462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Contiene el parámetro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EABDF8C-4305-442D-BD06-4E2AB6AE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28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62828"/>
                </a:solidFill>
                <a:latin typeface="Aptos"/>
                <a:ea typeface="Aptos"/>
                <a:cs typeface="Aptos"/>
              </a:rPr>
              <a:t>No contiene el parámetro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F89D9A3-B39C-4D7E-A8BA-3DD6D533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0550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6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En el largo plazo, cerca de 95 de cada 100 intervalos construidos de esta forma contienen el parámetro.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2E2AA8-F495-44D4-86BA-7C5749AF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85375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AE8F7F-23AD-4009-B140-C5EE4A56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AF380-94DB-4CF2-AA71-9208B732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6E97F-1051-49DB-9E25-3D041D40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DEE14-A4EA-43B1-BEA3-CF6C757B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9E818-E197-4B89-985F-BCAD556A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7EAA8-3491-4231-BC8F-616591F4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2A4C4-ADC0-481B-8C1D-C679DF8B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71E62-56F6-48AC-927C-D6E12FB1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064B5-F9C4-4508-BDB0-18CDD1EE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0218D-C2DD-4887-8AEC-0359925C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1A904-1E02-4619-9CB5-CF812070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A6F62-D0FB-49E9-ACEF-4D3FEEEF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B1B1C-C5D0-47AF-9B01-1ADC338F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13D44-B946-48FF-AE08-F3AA8BE1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44D49-8F3A-4909-B2D1-04E19142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E4547-07CC-46D5-9DC8-C00BA499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6F1BD-CBE7-47A7-A8FD-212BFF80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F7701-AC3C-4FD7-AD36-31F7F67B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22552-BF1C-4926-B3DE-300E1A8B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D044D-8775-4A6A-9635-E922EBC8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D8E05D-78C4-45C6-BEE2-3DF0D330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B6AF10-AC19-4554-AB9F-61B83C2F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6BCE3B-61CB-4DC7-A121-3050A9AC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CB173-C292-4B4B-BB2F-142C33D2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768194-A7A9-4074-87EC-718A0060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56DB6-1D2B-4B32-8A80-CF2C7CF6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77309-ABE9-4F16-B335-2BCA7CF2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4794FC-23D2-45AE-95A4-6DE96432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A31464-5F62-4CA8-93E2-2FA9B531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1D5C7F-47DF-40BD-B0CA-C0583373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75DBB3-F483-4FDF-81F2-C08B12AB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CDF46F-329E-4A1C-B1D3-739CCA5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46896C-50B1-463C-9B89-A39A094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15DD6F-95A6-4CF8-B433-DA35842E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342352-EC19-4D85-9998-960F2D4C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92AA9B-A4CF-4C8F-9A78-468A6353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3B706B-2B95-42DA-BCA0-4A552F8A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BB6916-AD8C-49B1-9A63-F1807209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871967-683B-47D3-B2D8-CC1268C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2A2291-AE14-4426-B5FA-BCFBAFF9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60E6DB-3C3A-436B-8810-38AE3818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20B80E-4B02-43C9-A3B0-B733F8C7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6096E8-6756-431E-9317-AB691D59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A67AD6-4DEB-45AE-9E6F-4306C17C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4C860D-5318-4A96-82A5-27C6495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A39BFB-F5D4-44AE-8C2B-5B8CF722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FF61B8-A45C-445F-961C-F46D159A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524A8E-A6E3-47F9-817B-D677AE1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130E8C-8DD6-4A6D-9CA7-359CF5E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88F394-46CA-483B-BF40-4D36E74C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E51072-8F95-4874-ADED-47E61D63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DE406B-A61A-4D17-8842-9E5D7B44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EAA908-495F-4470-8625-0A85AC84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3FC70D-4357-4014-AC3B-F2D8B082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Confianza y amplitud del intervalo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A036BD-95F5-459F-BEE9-C4133A35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85875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Con los mismos datos, un mayor nivel de confianza exige un intervalo más amplio.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D47D61-5234-483E-A8F2-575D4C4B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4792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6846A3-4900-482A-938E-165B78EC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D94DBB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49F8DC-3724-4CB3-AAFC-DDEDBB82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18243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49641D-D9A6-43C1-82C8-09A09F71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4805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95%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FFF128-E2A5-4439-B3F8-D4D9D029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7625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2563E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113488-3E0F-4599-B82E-69D55EF6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48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18243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7C4D94-E8D3-4C72-B5F8-C88C1983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48175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59F7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59F78"/>
                </a:solidFill>
                <a:latin typeface="Aptos"/>
                <a:ea typeface="Aptos"/>
                <a:cs typeface="Aptos"/>
              </a:rPr>
              <a:t>99%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6A10D8-D928-4DE4-98AB-BF222C3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14875"/>
            <a:ext cx="64770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159F7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7BE01A-D937-4967-89F0-FE64EA6E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48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18243A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C717B96-DE3F-41C9-8A9D-B843D8F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0" cy="30003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0B4BA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BD9CF1-67C6-4C4C-A16F-DF4DC50A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86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6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misma estimación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044635-508F-4677-BEE0-704488E6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57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9F7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9F78"/>
                </a:solidFill>
                <a:latin typeface="Aptos"/>
                <a:ea typeface="Aptos"/>
                <a:cs typeface="Aptos"/>
              </a:rPr>
              <a:t>Más confianza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828B94-77AE-4CFB-A202-DDA1C747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578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9F7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9F78"/>
                </a:solidFill>
                <a:latin typeface="Aptos"/>
                <a:ea typeface="Aptos"/>
                <a:cs typeface="Aptos"/>
              </a:rPr>
              <a:t>Intervalo más amplio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ADDED9-B51F-4231-9AA7-1A4520DC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58786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49F510-1E74-4ECD-BE41-46FF346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4EFE5-5A6B-4431-9BF3-AE9B3681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0B771-1B62-4064-95DC-73219D31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2CBD5-5957-4505-9DE1-068DEB73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4932D-9D51-4061-9A44-29FA510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CE639-45EB-4471-B563-0F1A4634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879D3-6F00-4829-9E7E-96DE7DE9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9CF72-D5FD-4D7A-B791-5DADE31D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4D509-4EB8-4FF1-84E0-DF3A8E32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8E42D-843A-44C5-A9F2-F8EB80EA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21215-E307-49FF-9506-820ECB9F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922ED-5009-459D-993A-C346B4E7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B2908-5548-4CE8-823F-0EC5A20B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8BE2A-F239-406A-ABD5-97C25C25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EB1FC-5527-4BA6-8CBE-63FBBFA3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E5E8A-25CB-496D-9FE1-60E47102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0AB88-283D-4AC4-A090-259BC323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2A31E-D0F0-4020-987F-68556E2C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3239D-0AD3-45F7-A1DA-82F4C5B8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C828D-4B9B-4738-9CE3-6D465C0A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BB261-11FA-47AB-9002-06AADE54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B4D59-1E95-457B-A777-C5FFF65E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AECD8-212B-4520-8B1A-54C1821D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45E25-A1A6-42F4-BC58-F7E97668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C0A0C-5968-488C-9EE1-F70C93C4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F1451-7C02-4DBF-B638-1CCAA13B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A9D2E-589A-4578-A067-62D36651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76386-4A6B-4197-987D-F28A12A4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2C5D8-8D79-4C94-BA8D-F91B2C35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386439-684A-4CD6-A1EF-F7B39CE2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5F8CD4-5358-4B35-8909-B25E916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9E8E22-31F0-425D-9E89-7EE9B075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9E8034-048F-4653-B47E-5A8D7D61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68F121-2D5C-4E95-8AB8-F3FCB068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CB94F9-D034-441F-82D6-E729817D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98E72-FCA0-4FD9-B429-EA89F640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B60AC8-8A0E-4030-B9A8-E61D592F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03509F-FCC5-499F-8B3F-964F2BEC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36AE7A-7251-48B9-AEDC-3EE9BD33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F50EB5-C4D1-4C88-900B-1B9B48C6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6438C9-26B2-4601-8AAA-1C544B13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95B49C-41CC-49B5-917A-E0B1B73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899377-8EE7-416B-AD0B-7C6C37A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F3B507-DE67-4EBD-AC87-79B8E7E2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2EE9F3-0082-4A80-9EFB-B2787BFB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ED6EC7-8645-4F1C-BD41-FD11B46E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6C68B0-EB0F-4689-AF63-F0B4EBD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7EDEA1-EA46-42C7-8F0B-23BECE71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44EDBA-186C-4FBA-8FB4-8ACE5A8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0CF99F-A559-4D9A-B24A-DCC3AE59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8FED44-825C-4EE1-BF7C-0C5DD37B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BA8454-0E4E-4E2D-AEFA-83C1AB67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0F1F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D98376-2C8A-4072-B1DE-20FEBCC9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23875"/>
            <a:ext cx="361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255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36BED4-60D2-4A89-9D78-A6792F5C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18243A"/>
                </a:solidFill>
                <a:latin typeface="Aptos"/>
                <a:ea typeface="Aptos"/>
                <a:cs typeface="Aptos"/>
              </a:rPr>
              <a:t>Tamaño muestral y precisión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5331B74-3944-495C-B5A1-F4265CBD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285875"/>
            <a:ext cx="971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Al aumentar n, el error estándar disminuye y el intervalo se estrecha.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AAD9CC-ECF7-453C-96A1-A4419402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479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4DB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94DBB"/>
                </a:solidFill>
                <a:latin typeface="Aptos"/>
                <a:ea typeface="Aptos"/>
                <a:cs typeface="Aptos"/>
              </a:rPr>
              <a:t>n = 75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D1F57D-EFB1-49B9-A640-6329DA08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14625"/>
            <a:ext cx="62865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D94DBB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8AC2D3-4438-481F-864D-40BDF8CF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18243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B68611-EAD9-4D30-83B9-02B7C9F0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433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 = 300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4B81FF-FC58-42ED-BA4E-2FE104A4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81000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2563EB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68E862-2E52-4911-8B60-99F2AE78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743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18243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4BD246-92ED-4850-BE73-2D3B0D50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386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9F7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59F78"/>
                </a:solidFill>
                <a:latin typeface="Aptos"/>
                <a:ea typeface="Aptos"/>
                <a:cs typeface="Aptos"/>
              </a:rPr>
              <a:t>n = 1.200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244538-747F-4444-82B3-59D5D34E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05375"/>
            <a:ext cx="1562100" cy="0"/>
          </a:xfrm>
          <a:prstGeom xmlns:a="http://schemas.openxmlformats.org/drawingml/2006/main" prst="line">
            <a:avLst/>
          </a:prstGeom>
          <a:ln xmlns:a="http://schemas.openxmlformats.org/drawingml/2006/main" w="76200">
            <a:solidFill>
              <a:srgbClr val="159F78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B3EA0F-BF4A-4802-A0D8-511ACAE2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38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43A"/>
          </a:solidFill>
          <a:ln xmlns:a="http://schemas.openxmlformats.org/drawingml/2006/main" w="9525">
            <a:solidFill>
              <a:srgbClr val="18243A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AB891C7-2241-471E-91D9-9FCC01DC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333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24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43A"/>
                </a:solidFill>
                <a:latin typeface="Aptos"/>
                <a:ea typeface="Aptos"/>
                <a:cs typeface="Aptos"/>
              </a:rPr>
              <a:t>EE ∝ 1 / √n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4A0F40E-0D71-4F1F-9886-8441ACC3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5787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Cuadruplicar el tamaño muestral reduce aproximadamente a la mitad el error estándar.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15E01C-ECA4-4557-94E0-DED923F7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0A4A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0A4A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9236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2026-09-27T15:53:41.6640000Z</dcterms:created>
  <dcterms:modified xsi:type="dcterms:W3CDTF">2026-09-27T15:53:41.6640000Z</dcterms:modified>
</coreProperties>
</file>