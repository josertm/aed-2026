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r>
              <a:rPr lang="es-CL">
                <a:latin typeface="Aptos"/>
                <a:ea typeface="Aptos"/>
                <a:cs typeface="Aptos"/>
              </a:rPr>
              <a:t>Resultados compatibles con H₀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Resultados esperados bajo H₀</c:v>
          </c:tx>
          <c:spPr>
            <a:ln w="38100">
              <a:solidFill>
                <a:srgbClr val="2867E8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-3.5</c:v>
                </c:pt>
                <c:pt idx="1">
                  <c:v>-3</c:v>
                </c:pt>
                <c:pt idx="2">
                  <c:v>-2.5</c:v>
                </c:pt>
                <c:pt idx="3">
                  <c:v>-2</c:v>
                </c:pt>
                <c:pt idx="4">
                  <c:v>-1.5</c:v>
                </c:pt>
                <c:pt idx="5">
                  <c:v>-1</c:v>
                </c:pt>
                <c:pt idx="6">
                  <c:v>-0.5</c:v>
                </c:pt>
                <c:pt idx="7">
                  <c:v>0</c:v>
                </c:pt>
                <c:pt idx="8">
                  <c:v>0.5</c:v>
                </c:pt>
                <c:pt idx="9">
                  <c:v>1</c:v>
                </c:pt>
                <c:pt idx="10">
                  <c:v>1.5</c:v>
                </c:pt>
                <c:pt idx="11">
                  <c:v>2</c:v>
                </c:pt>
                <c:pt idx="12">
                  <c:v>2.5</c:v>
                </c:pt>
                <c:pt idx="13">
                  <c:v>3</c:v>
                </c:pt>
                <c:pt idx="14">
                  <c:v>3.5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8.7000000000000001E-4</c:v>
                </c:pt>
                <c:pt idx="1">
                  <c:v>4.4299999999999999E-3</c:v>
                </c:pt>
                <c:pt idx="2">
                  <c:v>1.753E-2</c:v>
                </c:pt>
                <c:pt idx="3">
                  <c:v>5.3990000000000003E-2</c:v>
                </c:pt>
                <c:pt idx="4">
                  <c:v>0.12952</c:v>
                </c:pt>
                <c:pt idx="5">
                  <c:v>0.24196999999999999</c:v>
                </c:pt>
                <c:pt idx="6">
                  <c:v>0.35206999999999999</c:v>
                </c:pt>
                <c:pt idx="7">
                  <c:v>0.39894000000000002</c:v>
                </c:pt>
                <c:pt idx="8">
                  <c:v>0.35206999999999999</c:v>
                </c:pt>
                <c:pt idx="9">
                  <c:v>0.24196999999999999</c:v>
                </c:pt>
                <c:pt idx="10">
                  <c:v>0.12952</c:v>
                </c:pt>
                <c:pt idx="11">
                  <c:v>5.3990000000000003E-2</c:v>
                </c:pt>
                <c:pt idx="12">
                  <c:v>1.753E-2</c:v>
                </c:pt>
                <c:pt idx="13">
                  <c:v>4.4299999999999999E-3</c:v>
                </c:pt>
                <c:pt idx="14">
                  <c:v>8.7000000000000001E-4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C9-490E-9A97-4607EF0FA5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s-CL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onector recto 58">
            <a:extLst>
              <a:ext uri="{FF2B5EF4-FFF2-40B4-BE49-F238E27FC236}">
                <a16:creationId xmlns:a16="http://schemas.microsoft.com/office/drawing/2014/main" id="{DE01BDD9-7998-4E84-B01C-399F39B4C8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C76575E5-9772-4B0C-BD9B-40E3D8E23757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95036828-A84B-4192-B0DF-5CD7B772A4F5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1F414FA0-2E94-4AAA-A965-E6F66448280E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4BB2691F-C4AF-4534-B615-A5B5B34D0CE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87A7DE3E-D521-42B8-BBA9-37D1D27D0C03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0D621819-CF14-4F8F-BCCD-4D4839FD192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333A97E5-DF8E-4E9B-A99F-2811EDDFF9C1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DE0C39B9-5413-4BDE-84BA-82C160F60A2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51797E8F-7636-44E1-BA55-69F8EE159F70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A5B2AAE6-2705-4883-A7FB-7B65F44A342C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332BFE52-9235-45CC-8922-10C475B7CC01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3E0CFF0B-3890-4943-97DF-ABB07E8AC91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D1A17C21-426E-44AE-A9F6-5C048B38A1D4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C05232D8-EA5C-4168-A528-E7E2BC1E7D9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42C7384C-7953-41C3-9CE5-B20FBC9BA8FE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B3DB7708-B1D2-4328-AE95-E4AC9B16B77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CCB8BB7F-2EBC-4861-A201-884E57F7E197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50153FF4-CA43-4360-AE5A-08B62166E49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F2892677-7C72-42F5-B86F-2FFA0653701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6C3DC276-B5B9-4644-901E-BB7EDD37F8B4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184AD265-D5BC-451D-85D7-5F9E30018F3F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C2748C99-7A21-4D04-B789-3DBF64F9524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209AC166-A68D-44F6-B1D6-46DAB8907F30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99834C12-53FB-4558-9690-D6859AA3F80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73A27F17-4695-474B-9D52-52C51A284820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0CA82DF8-A25D-40CF-8F71-152C574E829D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979E2D9C-10CE-4A9E-9460-25ACDFB6B374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C5777C46-06C1-4C86-8167-AFC7A799BBAB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C9446C46-01CA-4374-B3F1-69011B7FE2DD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7F220487-EC11-4B9C-B5C0-A5319F40FCF0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2965A89F-2245-48A4-9823-998EC6DB7A12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D16D0A01-EB7A-4994-9D2E-F7FEE4A02EC2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48ECB288-D1A0-4B05-A8B8-B36B20A83F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ED5F129C-3EE9-4F6B-81E6-1EB94FB451F1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19C220DF-BBDC-4C3E-A488-F0FE381DAFC2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52C3AE87-403C-47C3-AF06-CD9D1777DF14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0A9C8221-1D2E-4677-A80A-6FEDD0A436D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CB074DD9-F3C9-423E-8634-A22CDEDF4259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12E28ED6-EFE2-4B81-92FE-EAFE753D8B22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766429E7-6EE8-4855-9CD3-50A23ED298F0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DDAE4893-AFAD-48CA-BBB7-739F2CB5A5D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D5ACFC29-827D-4697-83EC-858689369A53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99EDD79F-2D85-41A4-944D-CBD2F7A81A2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FB937ECC-8F10-4790-84DF-AB63B9295D62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3B6C64BF-0CE3-4B38-9FF6-25FDD5D5A8ED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41CA61C5-A0F3-47F0-942F-CAEF1393FC9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9AC0F6F9-FAED-41C8-9812-1B2CC5E7C1F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1BFE0E97-991B-4F92-BAF5-C2377A8D0EEA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116897EE-976E-4E6E-986F-F8D3DD21BE2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D8CA14C8-1C90-4505-A106-95ABEAA52679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79CE6C43-2AD5-42ED-9AAA-2C80C712A73F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pic>
        <p:nvPicPr>
          <p:cNvPr id="111" name="Imagen 110"/>
          <p:cNvPicPr>
            <a:picLocks noChangeAspect="1"/>
          </p:cNvPicPr>
          <p:nvPr/>
        </p:nvPicPr>
        <p:blipFill>
          <a:blip r:embed="rId3"/>
          <a:srcRect l="26563" r="26563"/>
          <a:stretch>
            <a:fillRect/>
          </a:stretch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84F242CE-4220-4A9D-811E-951F88E89E97}"/>
              </a:ext>
            </a:extLst>
          </p:cNvPr>
          <p:cNvSpPr>
            <a:spLocks noGrp="1"/>
          </p:cNvSpPr>
          <p:nvPr/>
        </p:nvSpPr>
        <p:spPr>
          <a:xfrm>
            <a:off x="6429375" y="2143125"/>
            <a:ext cx="4762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4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34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Test de hipótesis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34DBFD7-5D4E-4428-9619-3FED2D4495F8}"/>
              </a:ext>
            </a:extLst>
          </p:cNvPr>
          <p:cNvSpPr>
            <a:spLocks noGrp="1"/>
          </p:cNvSpPr>
          <p:nvPr/>
        </p:nvSpPr>
        <p:spPr>
          <a:xfrm>
            <a:off x="6477000" y="304800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Decisiones estadísticas a partir de una muestra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E7F74CDB-3723-44A3-B0BA-8E08D72C24AA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José Ruiz-Tagle Maturana</a:t>
            </a:r>
          </a:p>
        </p:txBody>
      </p:sp>
      <p:pic>
        <p:nvPicPr>
          <p:cNvPr id="115" name="Imagen 1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1151" y="5381625"/>
            <a:ext cx="3716948" cy="904875"/>
          </a:xfrm>
          <a:prstGeom prst="rect">
            <a:avLst/>
          </a:prstGeom>
        </p:spPr>
      </p:pic>
      <p:sp>
        <p:nvSpPr>
          <p:cNvPr id="58" name="Rectángulo 57">
            <a:extLst>
              <a:ext uri="{FF2B5EF4-FFF2-40B4-BE49-F238E27FC236}">
                <a16:creationId xmlns:a16="http://schemas.microsoft.com/office/drawing/2014/main" id="{50F0F4E8-9B9D-4D02-AA87-209830CC3EA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defRPr sz="2250" b="0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4DB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17033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onector recto 80">
            <a:extLst>
              <a:ext uri="{FF2B5EF4-FFF2-40B4-BE49-F238E27FC236}">
                <a16:creationId xmlns:a16="http://schemas.microsoft.com/office/drawing/2014/main" id="{ED774ED0-5E18-4E56-B269-9EA2B88132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47C9245A-27C4-4081-8DFA-9C2740DB4131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BCB08EC-F193-425F-97C8-5B1F863B9C3F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29EAE28D-6708-4993-83AE-1ED141A03A93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2E1E54E9-07EB-40C2-8E91-624CD48370C8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845693E6-68D4-4A97-9686-4E5BDF7DAFB1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3A27B6F2-FDF5-4C93-B2EB-931B937EFC4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CF82AFC2-D1C7-41A0-9B75-7726CF3E416D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195EC5B3-05EC-4777-9F10-95C84C46C3A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09586DA9-E037-4018-B7D6-E34FDC8F4359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67A001AB-90AA-473F-86EA-8DA8B21DCB2F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8F000EB8-6FC1-4CD4-A6A7-69C66327F4DB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EFD38197-04FE-4814-A69B-F66E6337DFB4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192484E2-35F7-4D88-BD77-04FA0E9210C1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5DC24AC1-8FBD-4EFA-8E47-73CAFB2FF14F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7C6D540D-81C9-4C09-A7AB-2AA4FC5DE5FB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68CEB998-AEA1-4D76-855B-9027F1D641B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7F17DF54-0118-4F12-BDCC-29D73F392EF2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1B94F76B-D177-49C9-A03E-9A606D60CC1E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A909833B-7FA1-4CAB-8E7B-8A4714279C82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3E4998E0-3C09-4C36-A220-9D7EC3CDC592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35F6F01C-149E-41D1-AA59-B24DB4E807D0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18F29A20-50C3-4294-9239-1BDF24B0691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BA89F2DE-9A8E-4142-80DB-D84E8CD33069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53BF4520-3BA7-49DA-BEFD-4CC7443B25E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C74F1651-7E99-49F5-ACA4-BABF7CF82F48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A15BC3F1-F6EB-4CC8-AB49-8FC3EC4524D2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3558A82F-9206-47BA-89E6-CD5B52E56680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CA10E043-44C5-4167-AD5B-F2C2097672BE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122F380B-F273-4187-A655-9F90D1EA6C15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6BCF9BE1-2284-4D1F-9E71-E3726FF89EF8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46B81C79-9E98-4A1B-9644-CB1E4EC2CBE3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CCFBD2CA-F057-460D-A095-6DA2DFF7DC78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C4CA69CF-34C2-40FA-90F7-9E086C2C03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7EB7737E-3B86-4E25-87CC-1A68FA47EBF0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930FB371-F397-444D-9BAD-CF64EF62DA7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EDDEE5A2-0378-49C0-8BEB-81FBE35C417E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042A0611-0F5D-4380-806D-C675ACDF6C2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EFB943CA-CA1D-4B47-8CA6-70F22FC24CED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025262F4-A4F4-4677-9AC7-4E8A90F5C99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71E1BA0B-C2C7-475A-AD6F-7ED9821F28AE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22539436-7E0E-4AA2-A572-49E41E009D3C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F0148837-57C0-4F52-9E06-4369A75CD815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9514A896-8E69-4A86-B6B4-F25E983D1A6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C8A5F75C-D0C7-4DEE-9709-6F29C8A3953D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9D53F1C9-B0D4-46EB-8655-6C8DA6D2A54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3E89AA7F-4F01-40C2-A54A-F5542D5C3F2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4ED28E3A-5E8F-4FD1-9D69-EBBE2B6F6D75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64E48CF5-2D1E-416E-8426-E6483994424D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AE3A95A5-A4FC-41FC-944C-AFEFD1858FA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D342C967-90CE-4F0F-A1D5-6C411D017A42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E327615E-83A0-43AE-B8F9-F6D85E8C1E6C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9947E07-C472-49ED-8A13-C8121E0B062C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C0A8C84D-70B0-496C-A509-C7F00355869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¿La moneda está cargada?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97ED4ED-3790-4963-852E-717F33ED2B7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26EE04AA-B56D-4FC8-A796-88B077A2121A}"/>
              </a:ext>
            </a:extLst>
          </p:cNvPr>
          <p:cNvSpPr>
            <a:spLocks noGrp="1"/>
          </p:cNvSpPr>
          <p:nvPr/>
        </p:nvSpPr>
        <p:spPr>
          <a:xfrm>
            <a:off x="1238250" y="1190625"/>
            <a:ext cx="9715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Una persona afirma que su moneda es equilibrada. La lanzamos 10 veces.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2C2493B4-2F68-4F5C-BAA2-8D1AFF7603B5}"/>
              </a:ext>
            </a:extLst>
          </p:cNvPr>
          <p:cNvSpPr>
            <a:spLocks noGrp="1"/>
          </p:cNvSpPr>
          <p:nvPr/>
        </p:nvSpPr>
        <p:spPr>
          <a:xfrm>
            <a:off x="1095375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2C15AB2-2BED-45FB-984D-11C7CCF7C975}"/>
              </a:ext>
            </a:extLst>
          </p:cNvPr>
          <p:cNvSpPr>
            <a:spLocks noGrp="1"/>
          </p:cNvSpPr>
          <p:nvPr/>
        </p:nvSpPr>
        <p:spPr>
          <a:xfrm>
            <a:off x="1095375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836B22AA-648D-4539-A865-66FB1B4636C9}"/>
              </a:ext>
            </a:extLst>
          </p:cNvPr>
          <p:cNvSpPr>
            <a:spLocks noGrp="1"/>
          </p:cNvSpPr>
          <p:nvPr/>
        </p:nvSpPr>
        <p:spPr>
          <a:xfrm>
            <a:off x="2095500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9E898DDE-5B4F-42C6-968E-B8CC87F11B84}"/>
              </a:ext>
            </a:extLst>
          </p:cNvPr>
          <p:cNvSpPr>
            <a:spLocks noGrp="1"/>
          </p:cNvSpPr>
          <p:nvPr/>
        </p:nvSpPr>
        <p:spPr>
          <a:xfrm>
            <a:off x="2095500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383DDE48-12FC-4E72-A15B-9677DBCF64B9}"/>
              </a:ext>
            </a:extLst>
          </p:cNvPr>
          <p:cNvSpPr>
            <a:spLocks noGrp="1"/>
          </p:cNvSpPr>
          <p:nvPr/>
        </p:nvSpPr>
        <p:spPr>
          <a:xfrm>
            <a:off x="3095625" y="2143125"/>
            <a:ext cx="685800" cy="685800"/>
          </a:xfrm>
          <a:prstGeom prst="ellipse">
            <a:avLst/>
          </a:prstGeom>
          <a:solidFill>
            <a:srgbClr val="E9F0FE"/>
          </a:solidFill>
          <a:ln w="28575">
            <a:solidFill>
              <a:srgbClr val="2867E8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B267F257-26AD-463C-8F27-8C71E2083C5C}"/>
              </a:ext>
            </a:extLst>
          </p:cNvPr>
          <p:cNvSpPr>
            <a:spLocks noGrp="1"/>
          </p:cNvSpPr>
          <p:nvPr/>
        </p:nvSpPr>
        <p:spPr>
          <a:xfrm>
            <a:off x="3095625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B9FF62C1-C76F-4844-AF53-215A9CF3B420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86B7B8D9-0CFE-4E2E-8DA3-1F8440DA91A4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D48DE060-DAF9-4654-A6D8-577CAF248770}"/>
              </a:ext>
            </a:extLst>
          </p:cNvPr>
          <p:cNvSpPr>
            <a:spLocks noGrp="1"/>
          </p:cNvSpPr>
          <p:nvPr/>
        </p:nvSpPr>
        <p:spPr>
          <a:xfrm>
            <a:off x="5095875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8794478C-ECB4-439B-8539-EA4F4CD79173}"/>
              </a:ext>
            </a:extLst>
          </p:cNvPr>
          <p:cNvSpPr>
            <a:spLocks noGrp="1"/>
          </p:cNvSpPr>
          <p:nvPr/>
        </p:nvSpPr>
        <p:spPr>
          <a:xfrm>
            <a:off x="5095875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15B4682F-83D7-4E86-8BF9-37B1C203AEE7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DD7E9A00-DBA3-467D-A198-3F7261BC7E23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79E367EF-CD9A-48EE-9E83-DB55DFD8055E}"/>
              </a:ext>
            </a:extLst>
          </p:cNvPr>
          <p:cNvSpPr>
            <a:spLocks noGrp="1"/>
          </p:cNvSpPr>
          <p:nvPr/>
        </p:nvSpPr>
        <p:spPr>
          <a:xfrm>
            <a:off x="7096125" y="2143125"/>
            <a:ext cx="685800" cy="685800"/>
          </a:xfrm>
          <a:prstGeom prst="ellipse">
            <a:avLst/>
          </a:prstGeom>
          <a:solidFill>
            <a:srgbClr val="E9F0FE"/>
          </a:solidFill>
          <a:ln w="28575">
            <a:solidFill>
              <a:srgbClr val="2867E8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C2B61ED9-A300-4979-9C56-6CB1C7D607E5}"/>
              </a:ext>
            </a:extLst>
          </p:cNvPr>
          <p:cNvSpPr>
            <a:spLocks noGrp="1"/>
          </p:cNvSpPr>
          <p:nvPr/>
        </p:nvSpPr>
        <p:spPr>
          <a:xfrm>
            <a:off x="7096125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763A5821-D99E-4129-A8FA-930AC3E8760E}"/>
              </a:ext>
            </a:extLst>
          </p:cNvPr>
          <p:cNvSpPr>
            <a:spLocks noGrp="1"/>
          </p:cNvSpPr>
          <p:nvPr/>
        </p:nvSpPr>
        <p:spPr>
          <a:xfrm>
            <a:off x="8096250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723A274D-7A7E-4F13-A915-024D87D0D65E}"/>
              </a:ext>
            </a:extLst>
          </p:cNvPr>
          <p:cNvSpPr>
            <a:spLocks noGrp="1"/>
          </p:cNvSpPr>
          <p:nvPr/>
        </p:nvSpPr>
        <p:spPr>
          <a:xfrm>
            <a:off x="8096250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43841993-388F-4F79-9725-D81DDE70D0A3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B701455F-ECEB-43F1-936F-0688A512D9B4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354C4E27-1D7C-4B40-94F9-0401B909ED90}"/>
              </a:ext>
            </a:extLst>
          </p:cNvPr>
          <p:cNvSpPr>
            <a:spLocks noGrp="1"/>
          </p:cNvSpPr>
          <p:nvPr/>
        </p:nvSpPr>
        <p:spPr>
          <a:xfrm>
            <a:off x="10096500" y="2143125"/>
            <a:ext cx="685800" cy="685800"/>
          </a:xfrm>
          <a:prstGeom prst="ellipse">
            <a:avLst/>
          </a:prstGeom>
          <a:solidFill>
            <a:srgbClr val="F9E7F5"/>
          </a:solidFill>
          <a:ln w="28575">
            <a:solidFill>
              <a:srgbClr val="D94DB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54A07389-3DA5-43FF-AF39-90752B149EA0}"/>
              </a:ext>
            </a:extLst>
          </p:cNvPr>
          <p:cNvSpPr>
            <a:spLocks noGrp="1"/>
          </p:cNvSpPr>
          <p:nvPr/>
        </p:nvSpPr>
        <p:spPr>
          <a:xfrm>
            <a:off x="10096500" y="2143125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B6F3CFF6-88A9-4D80-BEB6-2BF934DEA92A}"/>
              </a:ext>
            </a:extLst>
          </p:cNvPr>
          <p:cNvSpPr>
            <a:spLocks noGrp="1"/>
          </p:cNvSpPr>
          <p:nvPr/>
        </p:nvSpPr>
        <p:spPr>
          <a:xfrm>
            <a:off x="3762375" y="3143250"/>
            <a:ext cx="4667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8 caras de 10 lanzamientos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8937B255-D483-45FB-A0D5-9D332370CE47}"/>
              </a:ext>
            </a:extLst>
          </p:cNvPr>
          <p:cNvSpPr>
            <a:spLocks noGrp="1"/>
          </p:cNvSpPr>
          <p:nvPr/>
        </p:nvSpPr>
        <p:spPr>
          <a:xfrm>
            <a:off x="1571625" y="4286250"/>
            <a:ext cx="3714750" cy="714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H₀: p(cara) = 0,50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37F3FC02-B209-41DE-8DF7-8B79A274042D}"/>
              </a:ext>
            </a:extLst>
          </p:cNvPr>
          <p:cNvSpPr>
            <a:spLocks noGrp="1"/>
          </p:cNvSpPr>
          <p:nvPr/>
        </p:nvSpPr>
        <p:spPr>
          <a:xfrm>
            <a:off x="6905625" y="4286250"/>
            <a:ext cx="3714750" cy="714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H₁: p(cara) &gt; 0,50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E702A9DA-748D-4F96-8E0D-4F7290DFBF3C}"/>
              </a:ext>
            </a:extLst>
          </p:cNvPr>
          <p:cNvSpPr>
            <a:spLocks noGrp="1"/>
          </p:cNvSpPr>
          <p:nvPr/>
        </p:nvSpPr>
        <p:spPr>
          <a:xfrm>
            <a:off x="1381125" y="5524500"/>
            <a:ext cx="9429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¿Ocho caras son evidencia de una moneda cargada o todavía podrían explicarse por azar?</a:t>
            </a:r>
          </a:p>
        </p:txBody>
      </p:sp>
    </p:spTree>
    <p:extLst>
      <p:ext uri="{BB962C8B-B14F-4D97-AF65-F5344CB8AC3E}">
        <p14:creationId xmlns:p14="http://schemas.microsoft.com/office/powerpoint/2010/main" val="75737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nector recto 64">
            <a:extLst>
              <a:ext uri="{FF2B5EF4-FFF2-40B4-BE49-F238E27FC236}">
                <a16:creationId xmlns:a16="http://schemas.microsoft.com/office/drawing/2014/main" id="{D2D4663C-95D4-4B3B-BEA5-50DC06CB39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3A5FFC1E-5D95-43FC-8A58-B21A77590A5D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06AADA97-E314-424E-A681-E19F39203C17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2C196B26-741B-469D-8C23-F08BED721FE6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148C23AA-3ED2-49EA-AF0E-95B337C5138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3183EB02-248F-4552-8327-2BA5FADF20C7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8556764-2B61-462B-B271-6912866702E8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3678D2E-DB11-466B-9B59-817F444DEF6F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E5570901-24AE-48B2-B8C7-6658FD322DF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9C3D4557-66BE-4334-9343-6BEBB8FFA65C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2DD8C026-11BA-4943-B84A-FE6D4F4BF64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EDB39FEB-CBB2-4D03-9697-E040EF6C1453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87A64DE0-EB84-46A7-89BE-07724684899D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77F47AC9-2ED4-49F3-9CA8-471E555B1335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5C914530-3C68-4BFA-971F-E7451F481054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77B9E284-A660-40E7-ACC8-086789BA20C2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621F7085-2788-4A4E-AF46-2B5757CEC89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2C875C51-FDBE-4C81-B92A-732C2CFF48D4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1A5FAF1B-C58D-4803-AC43-6D51F69347CC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498AB65B-B0F7-42C0-A0EA-C7C91F46D65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3550C0D2-6E40-4DDF-8AEC-38753A1FA356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E62ECBD8-4DA3-4AAC-8F89-E091BA101A00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6753D4DD-7C96-4A50-9268-F600093ABCF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D379D144-3401-4AA0-8FB8-A0EDF87A07D1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D7165C1C-CF1E-40EB-9DD6-8F6F12F086B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8343833C-E1EC-46F2-B779-FDECF496DFD7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DA510C15-2E9D-4346-A0F6-BA5A86358B6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1255BE84-A17D-4091-B492-3456ECBA3553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10DFAEF6-6A34-42D7-9C14-96083751D19B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727A9D9E-9722-4254-8EB7-73605A7BCC50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413C5757-0520-4551-BF3A-4C062069770E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D52F6448-4D7F-4DE1-BBC5-13CB0040D956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FFEF8853-C5D6-4510-9E2B-A1FD282FB2E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A67BCDC7-B6F8-4723-98CD-854B6C8B45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33A0F8B0-0AAF-4F1E-ABDE-3BF9A1F12F6E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C32D55CE-CA9E-4A8C-82ED-5C4CE7EC21AE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89348242-48E1-4BA2-9943-8C1617AD3A03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E92F4507-312D-40CC-8131-1671AD72013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9AAB2C19-E948-4EA9-B330-630D42E0E5C7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88814155-446B-4319-ABE2-0F7AECFD3F81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1E890128-D85E-4EC8-964D-B3A2E747C85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BDC5D6CD-18AC-42D6-9F1D-7657453B671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2F59C779-F8F1-44DD-BD27-DCDAFA6D67E4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CAD59C7D-A315-491E-87D6-E18FB2F366B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B5772EDC-35E6-4705-829B-6D259E3E5F4A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B03BDEDB-40A1-410D-BF7D-D44DA58B5EA4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7E5C44DF-A4C3-4DD9-892F-6CE213CE888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18020A87-6F7A-410B-A7A3-91368A54A7C1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E423E5BF-09E6-4A3B-B694-2AF2AC459D92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DF971880-688F-47EC-9836-6F5CD9FC044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B483E3DA-592B-4372-9532-B0A9C5C3EF20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CD2B6E41-5594-4158-8DF4-1A27C35DAB35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286A056-31A9-4A63-B812-F91C29B382A9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7E30EB0-FF4C-4864-BAB7-9063DBF1AB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Caso Centella: ahora con contexto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25B8A0F-9844-4A2A-B57D-5C8D85434D8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9AEDB9F-4BD7-4EE9-9745-D3FCC4038B5F}"/>
              </a:ext>
            </a:extLst>
          </p:cNvPr>
          <p:cNvSpPr>
            <a:spLocks noGrp="1"/>
          </p:cNvSpPr>
          <p:nvPr/>
        </p:nvSpPr>
        <p:spPr>
          <a:xfrm>
            <a:off x="1190625" y="1143000"/>
            <a:ext cx="98107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algn="ctr">
              <a:defRPr sz="19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Un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estudio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anterior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estimó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que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30% de la población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adulta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prefería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Centella</a:t>
            </a:r>
            <a:r>
              <a:rPr lang="es-CL"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por sobre cualquier otro helado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. Tras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una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campaña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, se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encuesta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una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muestra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aleatoria</a:t>
            </a:r>
            <a:r>
              <a:rPr sz="195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simple de 50 personas.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CB62F296-481D-4979-8B03-EBC3A3E911AC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Valor histórico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DB35A9C-303E-4A3F-AFBE-810D5C25DCC0}"/>
              </a:ext>
            </a:extLst>
          </p:cNvPr>
          <p:cNvSpPr>
            <a:spLocks noGrp="1"/>
          </p:cNvSpPr>
          <p:nvPr/>
        </p:nvSpPr>
        <p:spPr>
          <a:xfrm>
            <a:off x="1000125" y="3095625"/>
            <a:ext cx="2857500" cy="1095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p₀ = 0,30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ABE89943-CC76-4151-A32E-B967DEDA019F}"/>
              </a:ext>
            </a:extLst>
          </p:cNvPr>
          <p:cNvSpPr>
            <a:spLocks noGrp="1"/>
          </p:cNvSpPr>
          <p:nvPr/>
        </p:nvSpPr>
        <p:spPr>
          <a:xfrm>
            <a:off x="4667250" y="26193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Nueva muestra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EB4501A5-0D44-4141-8DA2-FA06EC3EC057}"/>
              </a:ext>
            </a:extLst>
          </p:cNvPr>
          <p:cNvSpPr>
            <a:spLocks noGrp="1"/>
          </p:cNvSpPr>
          <p:nvPr/>
        </p:nvSpPr>
        <p:spPr>
          <a:xfrm>
            <a:off x="4667250" y="3095625"/>
            <a:ext cx="2857500" cy="1095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22 de 50</a:t>
            </a:r>
          </a:p>
          <a:p>
            <a:pPr algn="ctr">
              <a:defRPr sz="24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p̂ = 0,44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59824FB-8096-4299-8A0B-63785391784B}"/>
              </a:ext>
            </a:extLst>
          </p:cNvPr>
          <p:cNvSpPr>
            <a:spLocks noGrp="1"/>
          </p:cNvSpPr>
          <p:nvPr/>
        </p:nvSpPr>
        <p:spPr>
          <a:xfrm>
            <a:off x="8334375" y="26193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Diferencia observada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373D86A-8083-496E-B2DD-484DF38C07D8}"/>
              </a:ext>
            </a:extLst>
          </p:cNvPr>
          <p:cNvSpPr>
            <a:spLocks noGrp="1"/>
          </p:cNvSpPr>
          <p:nvPr/>
        </p:nvSpPr>
        <p:spPr>
          <a:xfrm>
            <a:off x="8334375" y="3095625"/>
            <a:ext cx="2857500" cy="1095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+14 puntos</a:t>
            </a:r>
          </a:p>
          <a:p>
            <a:pPr algn="ctr">
              <a:defRPr sz="232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porcentuales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F2083487-9404-49DB-9E1F-5E17518BA16D}"/>
              </a:ext>
            </a:extLst>
          </p:cNvPr>
          <p:cNvSpPr>
            <a:spLocks noGrp="1"/>
          </p:cNvSpPr>
          <p:nvPr/>
        </p:nvSpPr>
        <p:spPr>
          <a:xfrm>
            <a:off x="3143250" y="4762500"/>
            <a:ext cx="5905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H₀: p = 0,30     H₁: p &gt; 0,30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1E5CFDA2-10C9-4BBC-8763-4C11936D7A7B}"/>
              </a:ext>
            </a:extLst>
          </p:cNvPr>
          <p:cNvSpPr>
            <a:spLocks noGrp="1"/>
          </p:cNvSpPr>
          <p:nvPr/>
        </p:nvSpPr>
        <p:spPr>
          <a:xfrm>
            <a:off x="1381125" y="5572125"/>
            <a:ext cx="9429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65"/>
          </a:bodyPr>
          <a:lstStyle/>
          <a:p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pregunta estadística: ¿22 o más preferencias serían demasiado raras si la proporción siguiera siendo 30%?</a:t>
            </a:r>
          </a:p>
        </p:txBody>
      </p:sp>
    </p:spTree>
    <p:extLst>
      <p:ext uri="{BB962C8B-B14F-4D97-AF65-F5344CB8AC3E}">
        <p14:creationId xmlns:p14="http://schemas.microsoft.com/office/powerpoint/2010/main" val="182443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onector recto 65">
            <a:extLst>
              <a:ext uri="{FF2B5EF4-FFF2-40B4-BE49-F238E27FC236}">
                <a16:creationId xmlns:a16="http://schemas.microsoft.com/office/drawing/2014/main" id="{DC877B83-073C-462F-95C9-C11439BB4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F25E0BF5-641D-4FAC-9AE2-4F830486F5A2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219FFCB8-DC1D-4172-BFC3-413883E4559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E1B2105-8803-4B8B-9C85-BF9946E8975F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F414366B-B6A1-45C1-8D20-1F46C09FA40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40925AF1-1A22-4F2A-89D6-5C8CC2084F61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AFEA0EC-1662-4604-99CD-559597E4F8A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045B569-90C7-470E-8B3A-675C82D9F19C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8321BFAD-E3EF-47E9-9AFB-597550A28FC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32EF8EEA-BDDF-43D2-B0BC-759BFCE2340E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53803D95-1448-417B-9BA3-ABAD9DEB3C4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E14B76E0-9BDB-4DCA-8BEA-B904B7EAE859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811A2DBD-3B04-4ECD-B62A-0C85A1EA3F50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E169414F-A025-4C61-AAEB-4DD6A5912D49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9BFD9399-B511-4F01-B068-55466E13E42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B31A8C73-DE89-4600-8C88-383A8F397087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509A15DC-F5FF-4C88-B5E2-8AE6EE5C50C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1D57256C-957C-4776-8FF2-C439149F4444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5A9705F6-7407-440B-AA93-B446B7A6AA1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0B3D16C6-0CA2-4EEF-88F2-A3BB8AFFC5D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2F7F71A0-5A0E-42BF-AD45-18FF971D6E0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B29C68D2-2FB9-4A20-B116-AB1335B05A77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1CFC0492-4808-40DE-8229-809A48632927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5C69CA5F-0A46-4D03-BF2C-15EC07B118AA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FD440060-4140-4FC3-A542-E73CFF44E93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2ABD6A40-A901-44E2-A19C-FCDF32C012D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F17DA90E-DCF6-42AD-A612-10FED1C36F34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2387A744-8DF5-4BE2-ADBC-9C6A109EAAB8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ACE3A115-A10C-43D4-9079-64334309A4CE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9E72DD26-D674-4D2E-B71B-A32B107C8710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2F49C022-8DE9-47ED-8A6B-2DC320EDAF5A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4CEE40D9-71C3-4355-8A19-0ECEB7732BE6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88BE7E3C-98EB-4248-919F-0AA39E48EE83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DFB04D95-4D27-4F8A-935F-658914C561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E69414CC-8A81-4D26-BC37-56DE7741A38B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E7B1C77D-5CC2-4766-9043-5016069EF037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CC37D901-6685-444A-9D3F-60FA10D4E2FD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9515875A-A176-4310-92DD-6C28BD9D22A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1F920E07-AE2F-467D-A385-6F39807D5788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E24C13C5-A703-484A-AC7A-DAC16F678EAB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980F2790-61AD-4EAF-B06E-7B50560CB2B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F681469F-B25D-4B5B-B576-6F5B6E697A03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E5021614-A11F-46E5-AB2F-56FA2036071E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225B5CB5-F36B-4762-A3C4-E86D70A8841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63DA15F6-6D47-42A8-8E8A-B0C19B2CDD98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A8831556-3A53-46D5-8D03-D2814F1D337D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4718EFE9-4BD3-4258-97FD-7B9C34F44EC8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D34E8F34-0F90-4FC3-8AD9-A447EF452966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16D182CC-F7D2-45E8-974F-FAD303DB9F78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A3FB5560-3041-4123-A4FB-E28F1E768001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39AD8031-173D-4257-8461-5171D1BDBC12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D483A5D8-1DA1-414C-9014-C78650E5A9ED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A4DB032-37C3-41FA-A254-B7DBF0979ACF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520736FF-AF4C-46DB-92CA-852B081DB7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Surprise value o valor S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2DAB9EC0-1628-4650-A10D-8ED0146BC68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6BFEF579-7994-4C25-BB16-BDEECEDD4CE9}"/>
              </a:ext>
            </a:extLst>
          </p:cNvPr>
          <p:cNvSpPr>
            <a:spLocks noGrp="1"/>
          </p:cNvSpPr>
          <p:nvPr/>
        </p:nvSpPr>
        <p:spPr>
          <a:xfrm>
            <a:off x="1238250" y="1143000"/>
            <a:ext cx="9715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S transforma el valor p en bits de sorpresa bajo H₀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C8DB4656-3D7C-48D5-8703-66A02FF82505}"/>
              </a:ext>
            </a:extLst>
          </p:cNvPr>
          <p:cNvSpPr>
            <a:spLocks noGrp="1"/>
          </p:cNvSpPr>
          <p:nvPr/>
        </p:nvSpPr>
        <p:spPr>
          <a:xfrm>
            <a:off x="4095750" y="1857375"/>
            <a:ext cx="4000500" cy="714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0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S = −log₂(p)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B4F79D0-B645-4E33-B528-095D2B483256}"/>
              </a:ext>
            </a:extLst>
          </p:cNvPr>
          <p:cNvSpPr>
            <a:spLocks noGrp="1"/>
          </p:cNvSpPr>
          <p:nvPr/>
        </p:nvSpPr>
        <p:spPr>
          <a:xfrm>
            <a:off x="1095375" y="3143250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Moneda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62D2BDF-82FD-441D-BE2D-EB67F440DD42}"/>
              </a:ext>
            </a:extLst>
          </p:cNvPr>
          <p:cNvSpPr>
            <a:spLocks noGrp="1"/>
          </p:cNvSpPr>
          <p:nvPr/>
        </p:nvSpPr>
        <p:spPr>
          <a:xfrm>
            <a:off x="1095375" y="3667125"/>
            <a:ext cx="2333625" cy="1095375"/>
          </a:xfrm>
          <a:prstGeom prst="rect">
            <a:avLst/>
          </a:prstGeom>
          <a:solidFill>
            <a:srgbClr val="FAEDF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p = 0,055</a:t>
            </a:r>
          </a:p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S = 4,19 bits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01F33FC4-8EBE-49A5-8A6E-C598CD9194A0}"/>
              </a:ext>
            </a:extLst>
          </p:cNvPr>
          <p:cNvSpPr>
            <a:spLocks noGrp="1"/>
          </p:cNvSpPr>
          <p:nvPr/>
        </p:nvSpPr>
        <p:spPr>
          <a:xfrm>
            <a:off x="4905375" y="3143250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Referencia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26C9EA4-6E79-497C-80F2-F48C02219C38}"/>
              </a:ext>
            </a:extLst>
          </p:cNvPr>
          <p:cNvSpPr>
            <a:spLocks noGrp="1"/>
          </p:cNvSpPr>
          <p:nvPr/>
        </p:nvSpPr>
        <p:spPr>
          <a:xfrm>
            <a:off x="4905375" y="3667125"/>
            <a:ext cx="2333625" cy="109537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p = 0,05</a:t>
            </a:r>
          </a:p>
          <a:p>
            <a:pPr algn="ctr">
              <a:defRPr sz="21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S = 4,32 bits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34C6357B-6A2C-4006-A212-FF79937ACE00}"/>
              </a:ext>
            </a:extLst>
          </p:cNvPr>
          <p:cNvSpPr>
            <a:spLocks noGrp="1"/>
          </p:cNvSpPr>
          <p:nvPr/>
        </p:nvSpPr>
        <p:spPr>
          <a:xfrm>
            <a:off x="8715375" y="3143250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Centella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1681E932-4E63-41CD-86F2-C6B2E0E769CF}"/>
              </a:ext>
            </a:extLst>
          </p:cNvPr>
          <p:cNvSpPr>
            <a:spLocks noGrp="1"/>
          </p:cNvSpPr>
          <p:nvPr/>
        </p:nvSpPr>
        <p:spPr>
          <a:xfrm>
            <a:off x="8715375" y="3667125"/>
            <a:ext cx="2333625" cy="1095375"/>
          </a:xfrm>
          <a:prstGeom prst="rect">
            <a:avLst/>
          </a:prstGeom>
          <a:solidFill>
            <a:srgbClr val="EAF8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p = 0,025</a:t>
            </a:r>
          </a:p>
          <a:p>
            <a:pPr algn="ctr">
              <a:defRPr sz="217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S = 5,32 bits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594B338-E83C-4823-A2C4-B6261F398CE5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7810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Cada bit adicional equivale a reducir el valor p a la mitad.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B5D298E4-7DB1-4143-ADFD-E544B4C49BB1}"/>
              </a:ext>
            </a:extLst>
          </p:cNvPr>
          <p:cNvSpPr>
            <a:spLocks noGrp="1"/>
          </p:cNvSpPr>
          <p:nvPr/>
        </p:nvSpPr>
        <p:spPr>
          <a:xfrm>
            <a:off x="1476375" y="5762625"/>
            <a:ext cx="9239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S cuantifica sorpresa bajo H₀. No entrega la probabilidad de que H₀ sea falsa ni el tamaño del efecto.</a:t>
            </a:r>
          </a:p>
        </p:txBody>
      </p:sp>
    </p:spTree>
    <p:extLst>
      <p:ext uri="{BB962C8B-B14F-4D97-AF65-F5344CB8AC3E}">
        <p14:creationId xmlns:p14="http://schemas.microsoft.com/office/powerpoint/2010/main" val="31891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nector recto 64">
            <a:extLst>
              <a:ext uri="{FF2B5EF4-FFF2-40B4-BE49-F238E27FC236}">
                <a16:creationId xmlns:a16="http://schemas.microsoft.com/office/drawing/2014/main" id="{CDD0C01B-F6CB-4623-89C8-DD40052293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4964A799-AE65-4677-A122-CEDBFB2057C6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E1158B5F-3A01-4879-9C67-3F0A53FBE2F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6327E15F-6958-4445-B381-70A9C994EFC1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053BBFBF-56AB-4043-B420-ABF369C8BBC4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EC6DF70E-6396-4722-9DCF-2F72603CC62E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E829B66-9023-49FC-9A61-D92E4329413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039018B2-34D8-455A-BCC7-454142362924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3B3AAFF5-AA01-4DA3-843B-33090FB44F8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CD5F90BE-5F32-4C87-8B5D-EFBA297E2EF6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503ABE1F-75DE-43AA-804F-388AB287BC52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EC06EF8F-0F91-4099-AAC8-69240EB30F5F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360E7ADC-BB83-4AC4-9D79-5ADE2CF1038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1B911EB4-F07D-4335-9AA9-E945C6F13E08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D45A98BD-63B4-4333-AA65-E60C6E2831ED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BC7E1DAB-1D1C-4C4A-8D5A-B3CE223761C4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D56D4DCA-3580-457B-AF8F-6FDEEBC45B5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8EB4A62F-B178-48EB-9C9E-763B0E9F4615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189C87A4-6372-4007-874F-AD528B76E848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E16D3A3D-BD23-4BCC-82F8-9170B4E6C52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231F7549-98F1-4608-8A8E-57B84F34878E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269A685B-8D47-4E97-9CA3-234A6522D65B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1523233C-3A97-4645-9AD7-59BE9F5043E7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81DDF3CC-7753-43C7-A2B2-EF0EBB360BBD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621779E5-59CA-4416-8F47-D798EAFED14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65B7E161-7733-4436-B6EB-64A3FA00DA6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F8DB6659-2BB5-4154-8F45-FDFA7BDDB9D7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27F7ED9E-1E4C-4707-AC8B-6A065B0F4B76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BE470D58-8ABE-4590-9273-BEBBE29A8984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4762C6BF-E791-4EC2-8256-15830528CD2A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6BD71704-173E-49DC-AF0C-5E79C81670E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C6534F1D-D813-4BC3-9668-4CB7147CEDFC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519AB9B7-DFFF-4E6C-BB6B-8B1E12096745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22961C02-4D3D-4FE8-AB7B-A79B2F13ED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A2FEEE85-C3AC-4973-8389-1DA209348E95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BAB588EB-AA39-4CA2-84FB-FB90143AB297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B36B82B9-E2ED-49FF-9520-2123E95DA99B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CFB112FA-4B57-4E4B-A1DE-4E71C9E84C9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F9E9F66A-D501-4483-84DE-682BACB47929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CE755726-FAAD-4B48-B074-8FE3E18DC351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0E307757-77BD-4CE8-87B0-AC839360F91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1C4C94D1-1FA8-4CB9-9929-622FEB58FCB0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08074665-5D58-482B-B7E6-41B9B5C7B1E9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93EAD97E-DCA7-42CC-8A44-BFE6B768D1F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22762349-CA4E-4315-8C6F-9268B4AE120C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6EC5DA00-C6AD-40C5-8B80-0F62CDBA237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F1922AB6-B277-49F2-B263-37D7AB86C67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0722B8F0-D8CB-408E-AF8D-16C0111E3E56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68EFA471-EEDF-4D6D-8DD7-7EBC3D5BDFDA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8BEFC9F5-3D6A-4637-A7D5-F17B49439FA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FCDF19FF-CD38-48AA-BC55-619EA07D3CED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B7869543-7502-42B3-B69C-B9AF838819E6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71C42CF-9AF1-45B4-BF92-5CAF06735F09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DEF873F-EA14-4A78-BA05-5949B18EBE7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Hipótesis nula y alternativa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EBA7E047-8CF4-4029-9A48-736874EF0C0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429144EF-4C78-419B-AA1C-DB56180A73FA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4095750" cy="3143250"/>
          </a:xfrm>
          <a:prstGeom prst="ellipse">
            <a:avLst/>
          </a:prstGeom>
          <a:solidFill>
            <a:srgbClr val="F3F3F3"/>
          </a:solidFill>
          <a:ln w="28575">
            <a:solidFill>
              <a:srgbClr val="C8C8C8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96963448-A198-4240-BED2-A674F49402CA}"/>
              </a:ext>
            </a:extLst>
          </p:cNvPr>
          <p:cNvSpPr>
            <a:spLocks noGrp="1"/>
          </p:cNvSpPr>
          <p:nvPr/>
        </p:nvSpPr>
        <p:spPr>
          <a:xfrm>
            <a:off x="2333625" y="2095500"/>
            <a:ext cx="1714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6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H₀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36E2DC1A-2AF8-47E8-83C0-D8F4809B7FD0}"/>
              </a:ext>
            </a:extLst>
          </p:cNvPr>
          <p:cNvSpPr>
            <a:spLocks noGrp="1"/>
          </p:cNvSpPr>
          <p:nvPr/>
        </p:nvSpPr>
        <p:spPr>
          <a:xfrm>
            <a:off x="1809750" y="295275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Hipótesis nula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ABD3C1A3-431A-4588-9AD5-4CA9B10C6DFB}"/>
              </a:ext>
            </a:extLst>
          </p:cNvPr>
          <p:cNvSpPr>
            <a:spLocks noGrp="1"/>
          </p:cNvSpPr>
          <p:nvPr/>
        </p:nvSpPr>
        <p:spPr>
          <a:xfrm>
            <a:off x="1666875" y="3476625"/>
            <a:ext cx="3048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Representa ausencia de cambio, diferencia o asociación.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7BEE5E0D-4AFF-47D9-83CE-6FDCFBEB3CD9}"/>
              </a:ext>
            </a:extLst>
          </p:cNvPr>
          <p:cNvSpPr>
            <a:spLocks noGrp="1"/>
          </p:cNvSpPr>
          <p:nvPr/>
        </p:nvSpPr>
        <p:spPr>
          <a:xfrm>
            <a:off x="6953250" y="1714500"/>
            <a:ext cx="4095750" cy="3143250"/>
          </a:xfrm>
          <a:prstGeom prst="ellipse">
            <a:avLst/>
          </a:prstGeom>
          <a:solidFill>
            <a:srgbClr val="F3F3F3"/>
          </a:solidFill>
          <a:ln w="28575">
            <a:solidFill>
              <a:srgbClr val="C8C8C8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CBEE53E-107A-4803-9661-C581E97244EE}"/>
              </a:ext>
            </a:extLst>
          </p:cNvPr>
          <p:cNvSpPr>
            <a:spLocks noGrp="1"/>
          </p:cNvSpPr>
          <p:nvPr/>
        </p:nvSpPr>
        <p:spPr>
          <a:xfrm>
            <a:off x="8143875" y="2095500"/>
            <a:ext cx="1714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6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H₁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30EC8A6-F796-4F4A-969D-38808B127825}"/>
              </a:ext>
            </a:extLst>
          </p:cNvPr>
          <p:cNvSpPr>
            <a:spLocks noGrp="1"/>
          </p:cNvSpPr>
          <p:nvPr/>
        </p:nvSpPr>
        <p:spPr>
          <a:xfrm>
            <a:off x="7524750" y="29527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Hipótesis alternativa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BF7B3ABE-2346-4AF7-810B-845AC08D9001}"/>
              </a:ext>
            </a:extLst>
          </p:cNvPr>
          <p:cNvSpPr>
            <a:spLocks noGrp="1"/>
          </p:cNvSpPr>
          <p:nvPr/>
        </p:nvSpPr>
        <p:spPr>
          <a:xfrm>
            <a:off x="7477125" y="3476625"/>
            <a:ext cx="3048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Expresa el patrón sustantivo que queremos evaluar.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10952BB-3B75-49F4-8E4B-1D22A4B93DDE}"/>
              </a:ext>
            </a:extLst>
          </p:cNvPr>
          <p:cNvSpPr>
            <a:spLocks noGrp="1"/>
          </p:cNvSpPr>
          <p:nvPr/>
        </p:nvSpPr>
        <p:spPr>
          <a:xfrm>
            <a:off x="2476500" y="54292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Ejemplo: H₀: p = 0,30       H₁: p &gt; 0,30</a:t>
            </a:r>
          </a:p>
        </p:txBody>
      </p:sp>
    </p:spTree>
    <p:extLst>
      <p:ext uri="{BB962C8B-B14F-4D97-AF65-F5344CB8AC3E}">
        <p14:creationId xmlns:p14="http://schemas.microsoft.com/office/powerpoint/2010/main" val="19230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onector recto 62">
            <a:extLst>
              <a:ext uri="{FF2B5EF4-FFF2-40B4-BE49-F238E27FC236}">
                <a16:creationId xmlns:a16="http://schemas.microsoft.com/office/drawing/2014/main" id="{62EAB869-CCB9-4AB5-825E-F4DB762A8D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94370477-FD90-443F-AB38-4CCAC04B5734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8CC94FCC-B76E-450B-BF53-23B9E7422885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6CFC1899-BC29-4D51-9AEE-EDC1CFAD7BB2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6F928DEA-12B1-45E4-BD2A-888FA28833F6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070D2471-1ACC-4282-BBF6-B8A5A99B1C50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1593AEC-E921-4D3B-8248-9B349B3D3319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7E5845C3-D8BE-45C2-AC6D-6B75D898B0A0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DD6AB694-CD61-4197-BCDA-6752685EFC3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58548ED3-2B4E-4E28-B7A7-1F45ED795DC4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D1D1C7AE-1E13-4D24-B0A4-721229FDF928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53B6EA09-6307-4717-A23E-F287BA342005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85BCBD2C-B963-4975-BE0C-3BD0E771459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4C78FC34-0261-4815-A728-72B8F9BCDFD1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0B4A4D05-E327-4228-AC9A-82A710DBD4F0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8195847F-A948-4FB1-997F-657FDFA2E36B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ED47703C-B42F-47D2-A834-20E202487D0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F7A1BD3B-0007-4EDD-8F67-8D25EE4EC926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D053DCEE-7CAC-43CE-9EFC-EAFD29521B27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C6F458DE-669F-4F12-BF65-0E8DAEF6AC32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3F3DDA2C-7E4A-4FA1-8D4B-24089DEA3F6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3AF61E4B-9C58-4D55-8F66-89DA53E2B47F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291422BA-A2BF-4FA9-A658-887F0A7CCA75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2EDE9E66-90F1-4F54-9F14-8FA94E12AFD7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79711FB9-4388-4F87-8B97-E79F2B7AE40D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548EA1DA-FF15-410A-A46A-A265C42FB508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4CB8E5D9-C257-49A8-9058-B9D7D3A8701F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0C4629DC-6677-464D-9652-94B16119E975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E797216C-7E69-4226-AC31-8829CF1F82FD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4DD9E9EE-5E20-4C43-8CAE-720ABD34052D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FB345CE5-9EAC-446E-BA27-0ABF6213747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1A412BF0-3ECF-4ABE-BF34-CEB2DC33C29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98D90705-0EF2-4306-B194-CDF1E3985D12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BFCA3949-1A77-437D-97AE-BD6701FFF1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935B3C3D-C026-4AA8-A746-F36B7B0E022C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AD8AD860-D5D0-4D9F-8ED9-1BBFE3E9DF53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DE82CB1C-F562-442E-BFA2-F6698B2CC6AC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A374D17F-29DE-4336-84F1-1B3FA34EA3E4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C660C43D-59B3-4801-AB86-431879D293AE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94D2C620-3A97-4377-8702-A2241EAF438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D646DA3D-E96F-422A-A01F-D2E3DF85B1E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EE947A65-D571-4A2A-B466-53FD7B18B94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26256E43-9FA3-4B00-9C1B-036D4249C256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667C75AF-ED9F-4342-810A-250076A4F5E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D64722CA-8C34-4923-BF52-D2D27F57C123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3CF86DDF-ACA9-4D70-87A6-E0A673220C4C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89CDB216-C6DF-4B46-91D9-2CE44E1151D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D0AB8255-BA2E-411A-870F-576FB21785E5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C377CAFD-3341-41FD-9829-0095F0CB81AA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17B08DF0-9097-46E7-955A-9EE8670B45A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ADAEA935-A5C8-4C7C-8769-BB263DBE7317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289E5A3B-F4A3-4DE2-B486-0647A1147DF6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7B12A1B-8855-4849-9900-FBC56767B76D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E608DCBF-1762-4F75-8CB2-4CA5F26DED0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distribución bajo H₀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F443B5FD-36DA-435A-8641-EBE1BF5903F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graphicFrame>
        <p:nvGraphicFramePr>
          <p:cNvPr id="118" name="Chart"/>
          <p:cNvGraphicFramePr/>
          <p:nvPr/>
        </p:nvGraphicFramePr>
        <p:xfrm>
          <a:off x="1095375" y="1381125"/>
          <a:ext cx="100012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Conector recto 56">
            <a:extLst>
              <a:ext uri="{FF2B5EF4-FFF2-40B4-BE49-F238E27FC236}">
                <a16:creationId xmlns:a16="http://schemas.microsoft.com/office/drawing/2014/main" id="{3E86D10D-5DF4-41B7-8C7F-80C82369BEEE}"/>
              </a:ext>
            </a:extLst>
          </p:cNvPr>
          <p:cNvSpPr>
            <a:spLocks noGrp="1"/>
          </p:cNvSpPr>
          <p:nvPr/>
        </p:nvSpPr>
        <p:spPr>
          <a:xfrm>
            <a:off x="2781300" y="2143125"/>
            <a:ext cx="0" cy="1952625"/>
          </a:xfrm>
          <a:prstGeom prst="line">
            <a:avLst/>
          </a:prstGeom>
          <a:ln w="28575">
            <a:solidFill>
              <a:srgbClr val="DA2C2C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8" name="Conector recto 57">
            <a:extLst>
              <a:ext uri="{FF2B5EF4-FFF2-40B4-BE49-F238E27FC236}">
                <a16:creationId xmlns:a16="http://schemas.microsoft.com/office/drawing/2014/main" id="{099075DF-B5CE-48B0-A13D-36ED382548C0}"/>
              </a:ext>
            </a:extLst>
          </p:cNvPr>
          <p:cNvSpPr>
            <a:spLocks noGrp="1"/>
          </p:cNvSpPr>
          <p:nvPr/>
        </p:nvSpPr>
        <p:spPr>
          <a:xfrm>
            <a:off x="9410700" y="2143125"/>
            <a:ext cx="0" cy="1952625"/>
          </a:xfrm>
          <a:prstGeom prst="line">
            <a:avLst/>
          </a:prstGeom>
          <a:ln w="28575">
            <a:solidFill>
              <a:srgbClr val="DA2C2C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E4729804-CF9D-4D4E-B36B-85D3E40D803E}"/>
              </a:ext>
            </a:extLst>
          </p:cNvPr>
          <p:cNvSpPr>
            <a:spLocks noGrp="1"/>
          </p:cNvSpPr>
          <p:nvPr/>
        </p:nvSpPr>
        <p:spPr>
          <a:xfrm>
            <a:off x="1000125" y="47625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Región de rechazo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E991756-F083-4CB5-9ACA-C41052C5C1BC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Resultados frecuentes si H₀ es cierta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973ADF9-05B5-453C-AD56-32E55EDD53A8}"/>
              </a:ext>
            </a:extLst>
          </p:cNvPr>
          <p:cNvSpPr>
            <a:spLocks noGrp="1"/>
          </p:cNvSpPr>
          <p:nvPr/>
        </p:nvSpPr>
        <p:spPr>
          <a:xfrm>
            <a:off x="8810625" y="47625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Región de rechazo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8A1BA3CE-3D11-4B85-97C3-4633573899AA}"/>
              </a:ext>
            </a:extLst>
          </p:cNvPr>
          <p:cNvSpPr>
            <a:spLocks noGrp="1"/>
          </p:cNvSpPr>
          <p:nvPr/>
        </p:nvSpPr>
        <p:spPr>
          <a:xfrm>
            <a:off x="2333625" y="5619750"/>
            <a:ext cx="7524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Los resultados muy alejados de H₀ aportan evidencia contra ella.</a:t>
            </a:r>
          </a:p>
        </p:txBody>
      </p:sp>
    </p:spTree>
    <p:extLst>
      <p:ext uri="{BB962C8B-B14F-4D97-AF65-F5344CB8AC3E}">
        <p14:creationId xmlns:p14="http://schemas.microsoft.com/office/powerpoint/2010/main" val="124043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ector recto 66">
            <a:extLst>
              <a:ext uri="{FF2B5EF4-FFF2-40B4-BE49-F238E27FC236}">
                <a16:creationId xmlns:a16="http://schemas.microsoft.com/office/drawing/2014/main" id="{64CF7074-1705-4A4A-8196-A32D652079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E2EA963C-5402-4AA8-87BF-92AB6A869C6E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0378EED8-EC4A-4D61-BF77-833A60C1A5B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FCA9EB6A-4CA5-42B2-8EB5-22E65F665191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CD53BA23-1072-4BD2-81ED-C26EE50785F1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029FD5E3-D8D5-4EC6-AE6B-2A3EB4C4E84D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B5EDE19-E21F-4D28-8737-CFE40B7940D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238C8A90-B873-4EE2-A62F-5B005EEE9556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C914CDB2-4D5C-45CD-845A-5C1CC5CF1DAE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D94EC5DD-0A06-4A0D-9965-8104C183C685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2DA44BFA-8A15-482B-A824-361BE8000CA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8370ADAE-B650-44C1-969E-F51C80418CEB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BE4033A0-BA97-4DC9-BA9D-F4AAD5E1020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409BBCE4-DFDA-45F3-85B5-3D495370B459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E182ED36-5E36-4FFE-90B6-1E8DDA3D6290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0D974815-220E-4EB6-87E8-96E44296B97F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91D12C92-4A8E-429E-A9EF-031152548BF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8652CC13-022F-4347-93A4-A5B16136BA30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EE840019-F5D3-433C-882B-D4B4FDA8074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00E56672-D16F-44F3-A1DE-68D45D04F53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268215CA-9B63-4C76-B094-E44C8760F55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F3FEB4E4-B46F-4765-84F9-247944C1AAA1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EFC917FC-7542-4B62-93B5-48C92501C6FB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DB735FBD-EB4A-40B8-A113-A56FCDF6A9E8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682D8987-6059-438F-B463-42CA9EF859C7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0331D969-186D-4E43-97B7-B21C587376A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CB9A4131-C4F6-40DF-8122-BFB9F87A66A2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DC20DE47-0C4E-4A62-BD4E-8AC7DC293612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C29C6D66-229D-4D5B-93F6-77D64A808C7A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68D4DFFA-E93C-4EEC-9A99-6C08C89E5CA1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A30A39A0-46C7-43A3-9DC8-2F5543368C6E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7647D736-E2B2-40F5-AEE4-44FC1181D0BA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B7600073-4EB4-464E-B756-BA47E088070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2C418B59-656A-40D5-88B7-5E8A356A20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71E20D1C-4881-4ADA-8631-87E1D699F7B8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1FDF0866-FF75-4F8D-942F-5A09DFD8DF7E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B6FDC152-A429-41F0-8D38-D64A5817CCCA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8319C0A9-0DF1-4725-8A68-0CAC522C57B4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A7E39C43-019B-478C-A9FD-028ECA8D8782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D6B2145C-D852-438D-A50C-3F1D5D0E7F3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3C26416F-A9F6-441A-8517-F72119CB146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16FF124F-C9F1-4300-9C6A-08D18B5A64F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A42147C0-0697-4DDB-98ED-CF4D85D68C36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7615CAE1-83BA-428E-9D05-31B7A7583010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E5074911-8731-43C0-835D-186231EE4321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91D9B90E-D2FD-4BE8-A562-71F3FA77FE3B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BE39904B-3961-45CC-8524-749FBB96ED3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48CA449E-7AC2-4A27-A846-FE58C2AFF87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FA26C873-3ACE-435B-BEBB-5AF829164504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C48AFDF5-86D5-4613-9ACF-F161C155479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F690DB85-1A07-4E0A-8353-86B78655AD93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CCBFC1DB-0DD1-4CD6-ACE0-8DEF0C96974F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65B584C-607A-4363-A778-A290A9FAEECE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5E1EED8D-903F-4F88-BC43-9A47100477D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Decisiones y errores posibles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4839151D-8B33-400D-9F48-CF5CE5C008E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40E684F-3046-4DBD-8AA6-6A552A54AA5B}"/>
              </a:ext>
            </a:extLst>
          </p:cNvPr>
          <p:cNvSpPr>
            <a:spLocks noGrp="1"/>
          </p:cNvSpPr>
          <p:nvPr/>
        </p:nvSpPr>
        <p:spPr>
          <a:xfrm>
            <a:off x="4619625" y="12382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REALIDAD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6FED82B-F473-4C2E-9A07-F415E2E69FD9}"/>
              </a:ext>
            </a:extLst>
          </p:cNvPr>
          <p:cNvSpPr>
            <a:spLocks noGrp="1"/>
          </p:cNvSpPr>
          <p:nvPr/>
        </p:nvSpPr>
        <p:spPr>
          <a:xfrm>
            <a:off x="4810125" y="1714500"/>
            <a:ext cx="2619375" cy="47625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H₀ verdadera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3BF20994-4645-4512-8F91-443A1D12945D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2619375" cy="47625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H₀ falsa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6DCA0C1-2225-4757-A967-E970883200B8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A58EB42-EFF8-4BE5-B5B5-0685E6AC7614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2381250" cy="85725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No rechazar H₀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F957D1EC-D959-47DC-8217-5A2C0A4C14A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2381250" cy="85725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Rechazar H₀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AD6B2B2-849B-42A6-9263-CA3669A19E91}"/>
              </a:ext>
            </a:extLst>
          </p:cNvPr>
          <p:cNvSpPr>
            <a:spLocks noGrp="1"/>
          </p:cNvSpPr>
          <p:nvPr/>
        </p:nvSpPr>
        <p:spPr>
          <a:xfrm>
            <a:off x="4810125" y="3286125"/>
            <a:ext cx="2619375" cy="857250"/>
          </a:xfrm>
          <a:prstGeom prst="rect">
            <a:avLst/>
          </a:prstGeom>
          <a:solidFill>
            <a:srgbClr val="EAF8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Decisión correcta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D75ABE30-0127-4306-B6C6-60747D6EAA33}"/>
              </a:ext>
            </a:extLst>
          </p:cNvPr>
          <p:cNvSpPr>
            <a:spLocks noGrp="1"/>
          </p:cNvSpPr>
          <p:nvPr/>
        </p:nvSpPr>
        <p:spPr>
          <a:xfrm>
            <a:off x="7762875" y="3286125"/>
            <a:ext cx="2619375" cy="857250"/>
          </a:xfrm>
          <a:prstGeom prst="rect">
            <a:avLst/>
          </a:prstGeom>
          <a:solidFill>
            <a:srgbClr val="FAEDF7"/>
          </a:solidFill>
          <a:ln w="0">
            <a:noFill/>
          </a:ln>
        </p:spPr>
        <p:txBody>
          <a:bodyPr anchor="ctr">
            <a:normAutofit fontScale="97101"/>
          </a:bodyPr>
          <a:lstStyle/>
          <a:p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Error tipo II</a:t>
            </a:r>
          </a:p>
          <a:p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No detectamos un efecto real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B181A387-33A1-49C1-AE80-D54A627C8A4D}"/>
              </a:ext>
            </a:extLst>
          </p:cNvPr>
          <p:cNvSpPr>
            <a:spLocks noGrp="1"/>
          </p:cNvSpPr>
          <p:nvPr/>
        </p:nvSpPr>
        <p:spPr>
          <a:xfrm>
            <a:off x="4810125" y="4476750"/>
            <a:ext cx="2619375" cy="857250"/>
          </a:xfrm>
          <a:prstGeom prst="rect">
            <a:avLst/>
          </a:prstGeom>
          <a:solidFill>
            <a:srgbClr val="FCEDED"/>
          </a:solidFill>
          <a:ln w="0">
            <a:noFill/>
          </a:ln>
        </p:spPr>
        <p:txBody>
          <a:bodyPr anchor="ctr">
            <a:normAutofit fontScale="97101"/>
          </a:bodyPr>
          <a:lstStyle/>
          <a:p>
            <a:pPr algn="ctr">
              <a:defRPr sz="1725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Error tipo I</a:t>
            </a:r>
          </a:p>
          <a:p>
            <a:pPr algn="ctr">
              <a:defRPr sz="1725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Detectamos un efecto inexistente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E2AC2EDF-116B-4344-883F-7CCE73599999}"/>
              </a:ext>
            </a:extLst>
          </p:cNvPr>
          <p:cNvSpPr>
            <a:spLocks noGrp="1"/>
          </p:cNvSpPr>
          <p:nvPr/>
        </p:nvSpPr>
        <p:spPr>
          <a:xfrm>
            <a:off x="7762875" y="4476750"/>
            <a:ext cx="2619375" cy="857250"/>
          </a:xfrm>
          <a:prstGeom prst="rect">
            <a:avLst/>
          </a:prstGeom>
          <a:solidFill>
            <a:srgbClr val="EAF8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Decisión correcta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9C95C53E-C515-4039-AECF-D476C972C8D3}"/>
              </a:ext>
            </a:extLst>
          </p:cNvPr>
          <p:cNvSpPr>
            <a:spLocks noGrp="1"/>
          </p:cNvSpPr>
          <p:nvPr/>
        </p:nvSpPr>
        <p:spPr>
          <a:xfrm>
            <a:off x="2476500" y="5810250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α controla la probabilidad de cometer un error tipo I.</a:t>
            </a:r>
          </a:p>
        </p:txBody>
      </p:sp>
    </p:spTree>
    <p:extLst>
      <p:ext uri="{BB962C8B-B14F-4D97-AF65-F5344CB8AC3E}">
        <p14:creationId xmlns:p14="http://schemas.microsoft.com/office/powerpoint/2010/main" val="191660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onector recto 65">
            <a:extLst>
              <a:ext uri="{FF2B5EF4-FFF2-40B4-BE49-F238E27FC236}">
                <a16:creationId xmlns:a16="http://schemas.microsoft.com/office/drawing/2014/main" id="{446AC087-4C8E-4EAB-BB67-AE4D354E82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31E9577E-141E-4D54-8D76-C723447CE80F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E6E4795E-B6B3-45CD-A054-88D475C42339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9453AB5A-967D-4EDC-9007-34B3B0257DF0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29BED86A-B816-4BF6-AA76-EE7554894F72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6013DCC9-F350-4676-9435-593C8C209A64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D5411C22-CE71-4031-A338-37799D8B7F21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537284C7-1CB9-4E78-A5B6-1AD6CF7E0B72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4AB23522-8E87-45DD-892F-42266F8B48E5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A78658D4-7B2A-4DF7-BABF-3F7FE3CD90B0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5E7D23C0-94B4-4D37-8684-D45CAC1F1E2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5A23FA26-D3B8-4878-B90B-FF9BF9BD6FB4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A877D9F7-052E-42F6-A3A2-B77BE56BB5B5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FB319E9B-9AC2-4B84-96D0-C137F3E16FCF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4D7CC959-73FC-44F6-9F0D-D76948D6B0D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5D362462-A9BD-4325-9107-7404C79A0858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E074EB8B-751C-4063-A655-490F293D76E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B43C3D69-9643-4A63-A594-4DE493A67CF6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32DBAFD2-F816-423B-B8A9-F4AB766EBF23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3DB0648B-765D-4427-B5C0-96D85F6689E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64611CAC-CA1B-46D4-97E3-D3F696F2A2B8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2EBD08CD-BA38-4048-AB91-081994E688D7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EEC90D43-3BA8-4A11-B782-CE8B398D1BF3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E1425055-2D6C-4415-BD83-84D4F136E421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AF2A7609-2475-4A9A-8E9F-88C3F6B7E04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3B4FB91A-803D-4C7A-8614-630D37D1859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02AD093B-2837-4802-96E8-05BC3456F5B3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962BC1A4-014F-4D49-A554-99A50376B0ED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FB99E133-B2E8-44D9-8C22-6931D48FDF7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A9FE13BB-02E7-470A-A6E4-C713A6798C2D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928385B2-78E8-48FE-BC8E-F68FDE85F578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1E6E86BC-1855-4521-8A34-84D366975395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3FB0DE0E-675E-47F2-961C-238DA8267674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FA138AD5-102D-4C62-8279-4F2D5CE3F2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E69E69B3-A13D-48A8-988A-1B3C4FE89A3F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E0C05198-9A17-43EE-A62F-75F99607C27B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795F77F1-015E-4CB8-8639-F3D295E2B40E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F89D9744-37B2-49B0-99B6-AD3F5B149F5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50FA764A-9E37-4DE1-B802-4C07BD706893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04A649A6-9ACB-40D6-8015-2A10559ED44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E89FC864-C222-4B12-ACC2-8286E3AC19B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083C600F-8119-48C1-BEA9-3E72738A70A6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5AC2324F-B236-4648-B525-BADE779C88A7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DB725805-EBCE-4CEE-BC81-EA1057608C5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2051882A-B049-48ED-8C62-275870EF948A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F6049AE1-9A57-47C1-A664-3F2C34B1BF8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742FAB37-23AC-4E3F-AE5A-726A2CFCF6A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DF31ECBE-5A64-4616-BF0C-9E4A51AD0F52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9789792A-6688-45D5-A957-42092B7DC1CE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1F8B9137-7847-4EAD-8CB2-9B6696C046E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A95D39B2-C61B-4FB0-938D-50B86E23D191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45BD5766-2824-4CBD-8303-13B3022AC86E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755FD5D-83FF-473A-9BC0-8D87FF690C2A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A08FF41-278A-46C3-8EA3-3BDB354594B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El test depende de la pregunta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706AA78-2358-4D37-9900-DB5F2FF738A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A342FD9-0CCA-4EC8-9502-8A06694BBD6B}"/>
              </a:ext>
            </a:extLst>
          </p:cNvPr>
          <p:cNvSpPr>
            <a:spLocks noGrp="1"/>
          </p:cNvSpPr>
          <p:nvPr/>
        </p:nvSpPr>
        <p:spPr>
          <a:xfrm>
            <a:off x="904875" y="152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UNA PROPORCIÓN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D73E00A8-0334-4B03-90A8-650949354928}"/>
              </a:ext>
            </a:extLst>
          </p:cNvPr>
          <p:cNvSpPr>
            <a:spLocks noGrp="1"/>
          </p:cNvSpPr>
          <p:nvPr/>
        </p:nvSpPr>
        <p:spPr>
          <a:xfrm>
            <a:off x="904875" y="2047875"/>
            <a:ext cx="2857500" cy="138112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¿La proporción difiere de un valor?</a:t>
            </a:r>
          </a:p>
          <a:p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prop.test()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C341737A-9887-4AC5-98BC-2A852E24E1ED}"/>
              </a:ext>
            </a:extLst>
          </p:cNvPr>
          <p:cNvSpPr>
            <a:spLocks noGrp="1"/>
          </p:cNvSpPr>
          <p:nvPr/>
        </p:nvSpPr>
        <p:spPr>
          <a:xfrm>
            <a:off x="4667250" y="152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DOS PROPORCIONES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E4D03AA2-52B5-473D-AF73-0EABF5C25083}"/>
              </a:ext>
            </a:extLst>
          </p:cNvPr>
          <p:cNvSpPr>
            <a:spLocks noGrp="1"/>
          </p:cNvSpPr>
          <p:nvPr/>
        </p:nvSpPr>
        <p:spPr>
          <a:xfrm>
            <a:off x="4667250" y="2047875"/>
            <a:ext cx="2857500" cy="138112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¿Difieren dos grupos en una proporción?</a:t>
            </a:r>
          </a:p>
          <a:p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prop.test()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2B6C113-15DA-4CE4-A6FE-F8BE7D647D5E}"/>
              </a:ext>
            </a:extLst>
          </p:cNvPr>
          <p:cNvSpPr>
            <a:spLocks noGrp="1"/>
          </p:cNvSpPr>
          <p:nvPr/>
        </p:nvSpPr>
        <p:spPr>
          <a:xfrm>
            <a:off x="8429625" y="152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UNA O DOS MEDIAS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656293CF-610A-482E-B505-55AAC5C8EC44}"/>
              </a:ext>
            </a:extLst>
          </p:cNvPr>
          <p:cNvSpPr>
            <a:spLocks noGrp="1"/>
          </p:cNvSpPr>
          <p:nvPr/>
        </p:nvSpPr>
        <p:spPr>
          <a:xfrm>
            <a:off x="8429625" y="2047875"/>
            <a:ext cx="2857500" cy="1381125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¿Una media difiere de un valor o de otro grupo?</a:t>
            </a:r>
          </a:p>
          <a:p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t.test()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EF969A4-7589-4C2F-B811-F5E1EE696364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TRES O MÁS MEDIAS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B5A0A6D-6472-4F61-AC0F-B9B5494CA313}"/>
              </a:ext>
            </a:extLst>
          </p:cNvPr>
          <p:cNvSpPr>
            <a:spLocks noGrp="1"/>
          </p:cNvSpPr>
          <p:nvPr/>
        </p:nvSpPr>
        <p:spPr>
          <a:xfrm>
            <a:off x="2762250" y="4619625"/>
            <a:ext cx="2857500" cy="123825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¿Difieren las medias entre varios grupos?</a:t>
            </a:r>
          </a:p>
          <a:p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aov()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333F8F19-A0FE-4A47-92E8-3BC2B519CBAC}"/>
              </a:ext>
            </a:extLst>
          </p:cNvPr>
          <p:cNvSpPr>
            <a:spLocks noGrp="1"/>
          </p:cNvSpPr>
          <p:nvPr/>
        </p:nvSpPr>
        <p:spPr>
          <a:xfrm>
            <a:off x="6572250" y="4095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DOS CUANTITATIVAS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5718E1E-022A-490F-ABF5-56B99EAA55AE}"/>
              </a:ext>
            </a:extLst>
          </p:cNvPr>
          <p:cNvSpPr>
            <a:spLocks noGrp="1"/>
          </p:cNvSpPr>
          <p:nvPr/>
        </p:nvSpPr>
        <p:spPr>
          <a:xfrm>
            <a:off x="6572250" y="4619625"/>
            <a:ext cx="2857500" cy="123825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¿Existe una asociación lineal?</a:t>
            </a:r>
          </a:p>
          <a:p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cor.test()</a:t>
            </a:r>
          </a:p>
        </p:txBody>
      </p:sp>
    </p:spTree>
    <p:extLst>
      <p:ext uri="{BB962C8B-B14F-4D97-AF65-F5344CB8AC3E}">
        <p14:creationId xmlns:p14="http://schemas.microsoft.com/office/powerpoint/2010/main" val="136190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nector recto 64">
            <a:extLst>
              <a:ext uri="{FF2B5EF4-FFF2-40B4-BE49-F238E27FC236}">
                <a16:creationId xmlns:a16="http://schemas.microsoft.com/office/drawing/2014/main" id="{450E3A80-B75C-4AE0-8B5F-5726A81662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B98A6C8A-A9DE-47F0-A8FB-E8782E4277BB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789AC981-BE4C-4A74-90F5-3603E0DB175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402A3D83-5E3C-4D4B-B045-AD41AD43B243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EF3564C9-6BF1-4E9A-ADCA-C0D15AA21992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1A4FD770-0F3D-4DE3-8397-56F7FD0C6EBA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92CA775-0816-4D00-B43E-38803C5F69F7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2E50CEB-950D-4C64-9244-BE3C06C69865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0FE4FF0F-7C85-4893-A070-F232B58DF66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4C2EFB32-F8E1-44B2-8500-650896EA3E03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1D69B940-AAA5-44C3-9238-B987E00E42C5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01CB4BEF-D31C-4FE6-9064-659D362A1E11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6249E985-D426-4024-BF83-03A9CFF9386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004B4A8B-355C-45AF-BE3A-5282454B5EA6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93D151A7-67C1-49DC-A194-463EBA00BB8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05292209-8F91-4B4A-B4F9-07BE39B8E771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EA619FF2-1ABF-413E-8F76-18948050881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020B5CA0-E31C-4268-83E1-D4B46C50E359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04413E36-9E28-45D4-AFF8-2596C7808C12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3DB56BE8-93DA-4835-AC69-2537941D05D0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34617BDE-D34C-4FA3-99DC-06AC79F2DE40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9C0B80DB-4DB7-447D-9603-CE222771DC80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33FD9115-6F8D-4FC4-9F1F-EFED1B66D5E2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41D88628-035B-49E9-94CA-0D3F7DE6E0AC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DC4AB7BC-F5E3-4E86-B929-0BA1565C159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724847F0-23E6-481A-8869-4393BF7F32D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BD83A9CD-D732-497A-91C6-FB652E3D278D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F45A2DD6-1994-4FA8-925A-920D687107F6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36B145C4-9DE6-42D4-BEA3-3326FA76F879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9FD62E87-B5E6-4099-B890-4F15C6A757A9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542A3806-4C73-4888-A277-63FFAF391EE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4C7E351C-BB23-47E9-A218-F0BD6F761B4E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23C07E01-CFBB-4E2A-87DC-5C1019CF28E0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CB01F086-26F8-4C8E-A398-A24766CE7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59603E8A-24F5-4C1E-BF7A-4B01A4761474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B5F1FC47-1176-4DC8-AA6E-D69EF70B39C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23C9C32F-1BDB-4F4E-B78F-75EAF4E27F19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9BFB7FCB-1FDF-42BA-922C-D84CF3128B2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DC2C1EA0-4880-46B2-9ED1-88F725B022DE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A1FEA7F8-0A93-4525-B360-EB8AFF246F1F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20132E44-7A8B-4745-9450-271A4A3C488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AE19B753-6A0C-4C70-AE78-C22F1D05B97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8AA8C5D1-1844-49F0-BD52-2D398EE77616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92DA5C33-1260-4C45-B5F4-0F93CC399F9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FBB3C41D-FA8D-40AC-94C5-CA5FE6574D62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340F7315-A440-4D92-AAB1-668B8CDCF5F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571C9CC9-4617-4FB1-A780-E5DC9224E79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335222A4-14D7-499D-963A-DA39DC4474C6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C562E9ED-9198-4188-BDFB-564BC530A454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C1FD4BE6-AF01-4F0C-AD09-8FB1858A871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FEA4003F-C58C-414B-B222-1911EE4440E7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FA87421A-C1CF-4649-8167-AA10CC37841A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7A1C378-EC69-4C09-B00C-58963CD01753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3813F26-C50A-4617-AB6A-34C17561311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Cómo informar un resultado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0A52D67-29DF-43CB-B821-AD4D3BD10A5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DCCB3F9-320F-4CD0-B02B-D3F099D42223}"/>
              </a:ext>
            </a:extLst>
          </p:cNvPr>
          <p:cNvSpPr>
            <a:spLocks noGrp="1"/>
          </p:cNvSpPr>
          <p:nvPr/>
        </p:nvSpPr>
        <p:spPr>
          <a:xfrm>
            <a:off x="1000125" y="1571625"/>
            <a:ext cx="762000" cy="762000"/>
          </a:xfrm>
          <a:prstGeom prst="rect">
            <a:avLst/>
          </a:prstGeom>
          <a:solidFill>
            <a:srgbClr val="D94DB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D2437B9C-E15E-4DA8-B8F5-B087CCB6AFC2}"/>
              </a:ext>
            </a:extLst>
          </p:cNvPr>
          <p:cNvSpPr>
            <a:spLocks noGrp="1"/>
          </p:cNvSpPr>
          <p:nvPr/>
        </p:nvSpPr>
        <p:spPr>
          <a:xfrm>
            <a:off x="2143125" y="1571625"/>
            <a:ext cx="8572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Indica qué hipótesis evaluaste y qué test utilizaste.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C6F51B3-5305-4CFE-83FF-FBB58ED2DB45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762000" cy="762000"/>
          </a:xfrm>
          <a:prstGeom prst="rect">
            <a:avLst/>
          </a:prstGeom>
          <a:solidFill>
            <a:srgbClr val="2867E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2D1723B2-A4C5-4703-AF70-41864D15969A}"/>
              </a:ext>
            </a:extLst>
          </p:cNvPr>
          <p:cNvSpPr>
            <a:spLocks noGrp="1"/>
          </p:cNvSpPr>
          <p:nvPr/>
        </p:nvSpPr>
        <p:spPr>
          <a:xfrm>
            <a:off x="2143125" y="2619375"/>
            <a:ext cx="8572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Reporta el estadístico, los grados de libertad cuando corresponda y el valor p.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26F91FFA-5E8C-4B4B-9173-35BB500F012C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762000" cy="762000"/>
          </a:xfrm>
          <a:prstGeom prst="rect">
            <a:avLst/>
          </a:prstGeom>
          <a:solidFill>
            <a:srgbClr val="16A07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ED8D534F-ECD3-4642-A616-1D7638B2B5C5}"/>
              </a:ext>
            </a:extLst>
          </p:cNvPr>
          <p:cNvSpPr>
            <a:spLocks noGrp="1"/>
          </p:cNvSpPr>
          <p:nvPr/>
        </p:nvSpPr>
        <p:spPr>
          <a:xfrm>
            <a:off x="2143125" y="3667125"/>
            <a:ext cx="8572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Incluye el intervalo de confianza y el tamaño del efecto cuando estén disponibles.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B3C10167-8670-49DF-92CB-A15BB5F95CF2}"/>
              </a:ext>
            </a:extLst>
          </p:cNvPr>
          <p:cNvSpPr>
            <a:spLocks noGrp="1"/>
          </p:cNvSpPr>
          <p:nvPr/>
        </p:nvSpPr>
        <p:spPr>
          <a:xfrm>
            <a:off x="1000125" y="4714875"/>
            <a:ext cx="762000" cy="762000"/>
          </a:xfrm>
          <a:prstGeom prst="rect">
            <a:avLst/>
          </a:prstGeom>
          <a:solidFill>
            <a:srgbClr val="DA2C2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0DB97739-822E-47F1-BCF9-B9CBC1F92D0A}"/>
              </a:ext>
            </a:extLst>
          </p:cNvPr>
          <p:cNvSpPr>
            <a:spLocks noGrp="1"/>
          </p:cNvSpPr>
          <p:nvPr/>
        </p:nvSpPr>
        <p:spPr>
          <a:xfrm>
            <a:off x="2143125" y="4714875"/>
            <a:ext cx="8572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Concluye en palabras y limita la afirmación al diseño y a los datos observados.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2A2B5CCA-87C6-4C32-876A-F0646D77C39C}"/>
              </a:ext>
            </a:extLst>
          </p:cNvPr>
          <p:cNvSpPr>
            <a:spLocks noGrp="1"/>
          </p:cNvSpPr>
          <p:nvPr/>
        </p:nvSpPr>
        <p:spPr>
          <a:xfrm>
            <a:off x="1714500" y="5857875"/>
            <a:ext cx="8763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Significancia estadística y relevancia sustantiva responden preguntas distintas.</a:t>
            </a:r>
          </a:p>
        </p:txBody>
      </p:sp>
    </p:spTree>
    <p:extLst>
      <p:ext uri="{BB962C8B-B14F-4D97-AF65-F5344CB8AC3E}">
        <p14:creationId xmlns:p14="http://schemas.microsoft.com/office/powerpoint/2010/main" val="1600180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onector recto 67">
            <a:extLst>
              <a:ext uri="{FF2B5EF4-FFF2-40B4-BE49-F238E27FC236}">
                <a16:creationId xmlns:a16="http://schemas.microsoft.com/office/drawing/2014/main" id="{5F62BFE8-CAED-471E-89C4-206EC1649A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F8F12323-4538-4FEC-9CF8-1C241662964F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C55DAA4-90E9-4180-B6EF-E2DFBB4312A8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EAA9E465-4ABC-417A-9CE1-951B49C71C4D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145D7B63-C670-4307-9A7A-B0DCEE0985BA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7DBCA47A-C0FB-45E7-B966-2D2D797F7564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65650900-E780-4658-AC40-695CE61B235B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BFA6AAD0-E6C5-4287-8D17-E35350D2D9AA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318A861F-643B-4668-8362-AA47582E8BF5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F1E8079D-7E10-4FCD-982A-EE194BC4E734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18AFA626-3DEF-45DE-82C9-62BDABBA6964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7BCC70B9-9F17-4D4B-9221-BD55C1F330C6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9CCCECD4-6255-4C34-B18B-0216F13B61D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DC17FDBB-CFE6-45C1-A72D-63300964F3C7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48BCF39A-4F68-426B-9D1E-1CB2A9171002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DA987BCF-4989-461C-8834-3CBE1CDD33D3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2D05D572-7AB7-4880-B7A4-F1F1934A63B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AF395DA3-713C-4FED-872A-FFEE35A780D2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8CC96C12-0957-4055-88B8-0C86C7F620EF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4FF8E16E-47E7-49F8-B0DE-F86BFFD5F2C4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729C4E23-D702-4CEE-9BE4-4BCE3516B5A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509F62C1-A479-4C8E-8151-B1EE8BDFB07E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40028F7F-9C71-427F-AA4D-A5F8396F2BB5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FE27D76F-5A68-4063-BD23-FE1A03ABE72F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1EFE14D5-A371-40EC-9DC6-7F013B3A3CF3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A8F1A02A-1194-4357-86D7-21AD2977C71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8B62117B-274B-436C-A5EF-0140DC7F2BE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D67D6285-93C6-4532-B0A4-2C870FC28F60}"/>
              </a:ext>
            </a:extLst>
          </p:cNvPr>
          <p:cNvSpPr>
            <a:spLocks noGrp="1"/>
          </p:cNvSpPr>
          <p:nvPr/>
        </p:nv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5D37F199-DC98-40BC-A6EC-F8B63C91E84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34870294-2524-4285-917B-DE9C6CE2E841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F72F9765-3B6E-4E89-93BA-51B46AFDCBC9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53DB274C-6CAE-46CC-8CEE-D2EBB508A48C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423F30A9-81EC-4788-9181-A50469C069F6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0F15CCCD-AE37-41A6-8115-AEF95953D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98AF10C5-DD0C-45A9-9AC4-F012BEFF023D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548BCD93-2305-43F3-B343-377798FF73EF}"/>
              </a:ext>
            </a:extLst>
          </p:cNvPr>
          <p:cNvSpPr>
            <a:spLocks noGrp="1"/>
          </p:cNvSpPr>
          <p:nvPr/>
        </p:nvSpPr>
        <p:spPr>
          <a:xfrm>
            <a:off x="-1162050" y="67056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E39364B8-8B09-4A84-BFC2-A102F1FD17B5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2ABD2D6B-A96C-42AC-A579-9802BED16D9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D57E1C47-0034-439A-9D1D-2D195B10CB7F}"/>
              </a:ext>
            </a:extLst>
          </p:cNvPr>
          <p:cNvSpPr>
            <a:spLocks noGrp="1"/>
          </p:cNvSpPr>
          <p:nvPr/>
        </p:nvSpPr>
        <p:spPr>
          <a:xfrm>
            <a:off x="0" y="190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350C9FAA-A9E3-4EDF-8CF1-8B0E2924DCB0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DCEB3747-1AAF-446F-B6AA-49A1A35F812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56772C22-5BEB-410F-80B9-A50F0AF2F00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BFD81364-F468-49FC-BBFF-4C259312E80D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DC10B911-38C2-4E75-B846-0578CA8AC9A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96068064-A33B-4A2C-99B9-3A3AE9AB716A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2D94B2EA-DE44-450E-A9A3-B532DDA28F3F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119F1A08-63A2-4C57-BAC1-44DBF2D6A13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5D4186D4-D691-4AA4-B300-A1695FCBC39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C026BF70-4D87-4449-B0E9-8E2B30925C07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84496F5F-9C1C-493A-98E5-2558D5B4C5B5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E829B266-C5D4-4128-9B14-92BCA52CFA66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A823B457-4B29-48CB-A7C8-4321D74BC7AF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ln w="9525">
            <a:solidFill>
              <a:srgbClr val="F0F1F3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47505A2-9FA0-418E-95F0-64DE510B088F}"/>
              </a:ext>
            </a:extLst>
          </p:cNvPr>
          <p:cNvSpPr>
            <a:spLocks noGrp="1"/>
          </p:cNvSpPr>
          <p:nvPr/>
        </p:nvSpPr>
        <p:spPr>
          <a:xfrm>
            <a:off x="0" y="523875"/>
            <a:ext cx="3619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54"/>
          </a:bodyPr>
          <a:lstStyle/>
          <a:p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1032790-4EAC-40AA-8378-9572CF93822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108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ConcepTest</a:t>
            </a:r>
            <a:endParaRPr sz="2550" b="0" dirty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8475FA72-3B02-4230-9C58-E0E6847A918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565E985A-C8A8-447E-ACC3-80EA1B707BFB}"/>
              </a:ext>
            </a:extLst>
          </p:cNvPr>
          <p:cNvSpPr>
            <a:spLocks noGrp="1"/>
          </p:cNvSpPr>
          <p:nvPr/>
        </p:nvSpPr>
        <p:spPr>
          <a:xfrm>
            <a:off x="1143000" y="1066800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72"/>
          </a:bodyPr>
          <a:lstStyle/>
          <a:p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Un </a:t>
            </a:r>
            <a:r>
              <a:rPr sz="180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experimento</a:t>
            </a:r>
            <a:r>
              <a:rPr sz="180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aleatorizado</a:t>
            </a:r>
            <a:r>
              <a:rPr sz="180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eval</a:t>
            </a:r>
            <a:r>
              <a:rPr lang="es-CL" sz="180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uó</a:t>
            </a:r>
            <a:r>
              <a:rPr sz="180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un </a:t>
            </a:r>
            <a:r>
              <a:rPr sz="1800" b="1" dirty="0" err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programa</a:t>
            </a:r>
            <a:r>
              <a:rPr sz="180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 d</a:t>
            </a:r>
            <a:r>
              <a:rPr lang="es-CL" sz="1800" b="1" dirty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 intervenciones de ajedrez en escolares. Se encontró que el grupo intervenido aumentó en promedio 5 décimas sus notas en matemáticas. </a:t>
            </a:r>
            <a:endParaRPr sz="1800" b="1" dirty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2A05A017-92D4-435C-B286-528ED5F15084}"/>
              </a:ext>
            </a:extLst>
          </p:cNvPr>
          <p:cNvSpPr>
            <a:spLocks noGrp="1"/>
          </p:cNvSpPr>
          <p:nvPr/>
        </p:nvSpPr>
        <p:spPr>
          <a:xfrm>
            <a:off x="2000250" y="17145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IC 95%: [0</a:t>
            </a:r>
            <a:r>
              <a:rPr lang="es-CL"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.1 </a:t>
            </a:r>
            <a:r>
              <a:rPr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;</a:t>
            </a:r>
            <a:r>
              <a:rPr lang="es-CL"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 0.9</a:t>
            </a:r>
            <a:r>
              <a:rPr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]</a:t>
            </a:r>
            <a:r>
              <a:rPr lang="es-CL"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, </a:t>
            </a:r>
            <a:r>
              <a:rPr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p = 0</a:t>
            </a:r>
            <a:r>
              <a:rPr lang="es-CL"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.</a:t>
            </a:r>
            <a:r>
              <a:rPr sz="2175" b="1" dirty="0">
                <a:solidFill>
                  <a:srgbClr val="D94DB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D913D3C-EEA6-4981-96C3-91106D597623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¿Qué se puede concluir?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B7D7FB7-9069-47D7-8377-0ECAE924E9BB}"/>
              </a:ext>
            </a:extLst>
          </p:cNvPr>
          <p:cNvSpPr>
            <a:spLocks noGrp="1"/>
          </p:cNvSpPr>
          <p:nvPr/>
        </p:nvSpPr>
        <p:spPr>
          <a:xfrm>
            <a:off x="1143000" y="2905125"/>
            <a:ext cx="552450" cy="495300"/>
          </a:xfrm>
          <a:prstGeom prst="rect">
            <a:avLst/>
          </a:prstGeom>
          <a:solidFill>
            <a:srgbClr val="2867E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E74293A2-C6B0-42C5-AA18-CC1631C46DBB}"/>
              </a:ext>
            </a:extLst>
          </p:cNvPr>
          <p:cNvSpPr>
            <a:spLocks noGrp="1"/>
          </p:cNvSpPr>
          <p:nvPr/>
        </p:nvSpPr>
        <p:spPr>
          <a:xfrm>
            <a:off x="1885950" y="2905125"/>
            <a:ext cx="9144000" cy="49530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El programa produce una mejora grande y educativamente importante.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9DA51CF-0BD5-43C3-90E1-A48107BDD22F}"/>
              </a:ext>
            </a:extLst>
          </p:cNvPr>
          <p:cNvSpPr>
            <a:spLocks noGrp="1"/>
          </p:cNvSpPr>
          <p:nvPr/>
        </p:nvSpPr>
        <p:spPr>
          <a:xfrm>
            <a:off x="1143000" y="3590925"/>
            <a:ext cx="552450" cy="495300"/>
          </a:xfrm>
          <a:prstGeom prst="rect">
            <a:avLst/>
          </a:prstGeom>
          <a:solidFill>
            <a:srgbClr val="2867E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1902EB0B-4712-4477-9C1C-637197D441EB}"/>
              </a:ext>
            </a:extLst>
          </p:cNvPr>
          <p:cNvSpPr>
            <a:spLocks noGrp="1"/>
          </p:cNvSpPr>
          <p:nvPr/>
        </p:nvSpPr>
        <p:spPr>
          <a:xfrm>
            <a:off x="1885950" y="3590925"/>
            <a:ext cx="9144000" cy="49530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 fontScale="97993"/>
          </a:bodyPr>
          <a:lstStyle/>
          <a:p>
            <a:pPr algn="l">
              <a:defRPr sz="15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Hay evidencia de un efecto promedio positivo, pero los datos también son compatibles con una mejora pequeña.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B3B88384-2318-4FCD-8434-AA5F6885BEA2}"/>
              </a:ext>
            </a:extLst>
          </p:cNvPr>
          <p:cNvSpPr>
            <a:spLocks noGrp="1"/>
          </p:cNvSpPr>
          <p:nvPr/>
        </p:nvSpPr>
        <p:spPr>
          <a:xfrm>
            <a:off x="1143000" y="4276725"/>
            <a:ext cx="552450" cy="495300"/>
          </a:xfrm>
          <a:prstGeom prst="rect">
            <a:avLst/>
          </a:prstGeom>
          <a:solidFill>
            <a:srgbClr val="2867E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50181181-836E-4FE7-A74E-D5A674BE43A7}"/>
              </a:ext>
            </a:extLst>
          </p:cNvPr>
          <p:cNvSpPr>
            <a:spLocks noGrp="1"/>
          </p:cNvSpPr>
          <p:nvPr/>
        </p:nvSpPr>
        <p:spPr>
          <a:xfrm>
            <a:off x="1885950" y="4276725"/>
            <a:ext cx="9144000" cy="49530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Existe 97% de probabilidad de que el programa funcione.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72DDC28-9BF7-4FC2-A566-E789824F1F5A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1. Voto individual     2. Discusión con una opinión distinta     3. Segunda votación</a:t>
            </a:r>
          </a:p>
        </p:txBody>
      </p:sp>
    </p:spTree>
    <p:extLst>
      <p:ext uri="{BB962C8B-B14F-4D97-AF65-F5344CB8AC3E}">
        <p14:creationId xmlns:p14="http://schemas.microsoft.com/office/powerpoint/2010/main" val="16462437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DocSecurity>0</DocSecurity>
  <PresentationFormat>Panorámica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José Antonio Ruiz Tagle Maturana</cp:lastModifiedBy>
  <cp:revision>2</cp:revision>
  <dcterms:created xsi:type="dcterms:W3CDTF">2026-09-28T14:53:00Z</dcterms:created>
  <dcterms:modified xsi:type="dcterms:W3CDTF">2026-09-28T15:31:57Z</dcterms:modified>
</cp:coreProperties>
</file>